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41148000" cx="5486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960">
          <p15:clr>
            <a:srgbClr val="747775"/>
          </p15:clr>
        </p15:guide>
        <p15:guide id="2" pos="172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15D19C-9A88-40C2-A0AC-736F9326FBF2}">
  <a:tblStyle styleId="{4915D19C-9A88-40C2-A0AC-736F9326FB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960" orient="horz"/>
        <p:guide pos="172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92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143292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b3f573e43_0_3:notes"/>
          <p:cNvSpPr/>
          <p:nvPr>
            <p:ph idx="2" type="sldImg"/>
          </p:nvPr>
        </p:nvSpPr>
        <p:spPr>
          <a:xfrm>
            <a:off x="1143288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b3f573e4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Before we talk about our solution, let's nail down the objective. Our goal is direct: </a:t>
            </a:r>
            <a:r>
              <a:rPr b="1" lang="en">
                <a:solidFill>
                  <a:schemeClr val="dk1"/>
                </a:solidFill>
              </a:rPr>
              <a:t>We need to reliably predict the Mobile Money Adoption Rate</a:t>
            </a:r>
            <a:r>
              <a:rPr lang="en">
                <a:solidFill>
                  <a:schemeClr val="dk1"/>
                </a:solidFill>
              </a:rPr>
              <a:t> globally."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(Point to the Goal and Task)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"The business challenge is complex—we have limited resources, and we need to know </a:t>
            </a:r>
            <a:r>
              <a:rPr b="1" lang="en">
                <a:solidFill>
                  <a:schemeClr val="dk1"/>
                </a:solidFill>
              </a:rPr>
              <a:t>exactly where</a:t>
            </a:r>
            <a:r>
              <a:rPr lang="en">
                <a:solidFill>
                  <a:schemeClr val="dk1"/>
                </a:solidFill>
              </a:rPr>
              <a:t> to focus our market entry efforts. Our first task, therefore, was to identify the </a:t>
            </a:r>
            <a:r>
              <a:rPr b="1" lang="en">
                <a:solidFill>
                  <a:schemeClr val="dk1"/>
                </a:solidFill>
              </a:rPr>
              <a:t>top factors, or drivers,</a:t>
            </a:r>
            <a:r>
              <a:rPr lang="en">
                <a:solidFill>
                  <a:schemeClr val="dk1"/>
                </a:solidFill>
              </a:rPr>
              <a:t> that reliably push adoption in diverse countries."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(Point to the Success Metric: R-squared)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"This isn't about guesswork. Our measure of technical success for this entire project is achieving a </a:t>
            </a:r>
            <a:r>
              <a:rPr b="1" lang="en">
                <a:solidFill>
                  <a:schemeClr val="dk1"/>
                </a:solidFill>
              </a:rPr>
              <a:t>high R-squared score</a:t>
            </a:r>
            <a:r>
              <a:rPr lang="en">
                <a:solidFill>
                  <a:schemeClr val="dk1"/>
                </a:solidFill>
              </a:rPr>
              <a:t>. This metric proves that our model isn't just randomly accurate; it is mathematically capturing the true relationship between our drivers and the final adoption rate. A high R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 gives us the confidence to base multi-million dollar resource decisions on the results."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(Transition to the next slide)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"So, how did we achieve that high </a:t>
            </a:r>
            <a:r>
              <a:rPr lang="en">
                <a:solidFill>
                  <a:schemeClr val="dk1"/>
                </a:solidFill>
              </a:rPr>
              <a:t>R</a:t>
            </a:r>
            <a:r>
              <a:rPr baseline="30000" lang="en">
                <a:solidFill>
                  <a:schemeClr val="dk1"/>
                </a:solidFill>
              </a:rPr>
              <a:t>2 </a:t>
            </a:r>
            <a:r>
              <a:rPr lang="en">
                <a:solidFill>
                  <a:schemeClr val="dk1"/>
                </a:solidFill>
              </a:rPr>
              <a:t>score? Let's look at the specific modeling choices we made."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b3f573e43_0_18:notes"/>
          <p:cNvSpPr/>
          <p:nvPr>
            <p:ph idx="2" type="sldImg"/>
          </p:nvPr>
        </p:nvSpPr>
        <p:spPr>
          <a:xfrm>
            <a:off x="1143288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b3f573e4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"Before running any models, we first had to understand the raw data. This slide shows two critical findings that shaped our entire approach."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(Point to the 'Regional Dominance' bullet)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"First, we confirmed a very strong </a:t>
            </a:r>
            <a:r>
              <a:rPr b="1" lang="en">
                <a:solidFill>
                  <a:schemeClr val="dk1"/>
                </a:solidFill>
              </a:rPr>
              <a:t>geographic factor</a:t>
            </a:r>
            <a:r>
              <a:rPr lang="en">
                <a:solidFill>
                  <a:schemeClr val="dk1"/>
                </a:solidFill>
              </a:rPr>
              <a:t> driving adoption. Our data shows Sub-Saharan Africa is the clear global leader, which immediately tells us that global adoption is </a:t>
            </a:r>
            <a:r>
              <a:rPr b="1" lang="en">
                <a:solidFill>
                  <a:schemeClr val="dk1"/>
                </a:solidFill>
              </a:rPr>
              <a:t>highly unequal</a:t>
            </a:r>
            <a:r>
              <a:rPr lang="en">
                <a:solidFill>
                  <a:schemeClr val="dk1"/>
                </a:solidFill>
              </a:rPr>
              <a:t>. Any effective model must account for the unique conditions driving success in this region."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(Point to the 'Target Variable is Skewed' bullet)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"Second, looking at our target variable, the </a:t>
            </a:r>
            <a:r>
              <a:rPr b="1" lang="en">
                <a:solidFill>
                  <a:schemeClr val="dk1"/>
                </a:solidFill>
              </a:rPr>
              <a:t>Mobile Money Adoption Rate</a:t>
            </a:r>
            <a:r>
              <a:rPr lang="en">
                <a:solidFill>
                  <a:schemeClr val="dk1"/>
                </a:solidFill>
              </a:rPr>
              <a:t>, we found the distribution is heavily skewed to the right. What this means in business terms is simple: </a:t>
            </a:r>
            <a:r>
              <a:rPr b="1" lang="en">
                <a:solidFill>
                  <a:schemeClr val="dk1"/>
                </a:solidFill>
              </a:rPr>
              <a:t>In most countries, mobile money adoption is still low or moderate.</a:t>
            </a:r>
            <a:r>
              <a:rPr lang="en">
                <a:solidFill>
                  <a:schemeClr val="dk1"/>
                </a:solidFill>
              </a:rPr>
              <a:t> The massive spikes in a few leading regions pull the average up, but the global opportunity is mostly in these low-to-moderate segments."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"This skew is critical. It told us we could </a:t>
            </a:r>
            <a:r>
              <a:rPr b="1" lang="en">
                <a:solidFill>
                  <a:schemeClr val="dk1"/>
                </a:solidFill>
              </a:rPr>
              <a:t>not</a:t>
            </a:r>
            <a:r>
              <a:rPr lang="en">
                <a:solidFill>
                  <a:schemeClr val="dk1"/>
                </a:solidFill>
              </a:rPr>
              <a:t> use a simple linear model like OLS (Ordinary Least Squares). We needed a more robust, non-linear approach that could handle the complexity of global inequality and this skewed distribution—which is why we chose the </a:t>
            </a:r>
            <a:r>
              <a:rPr b="1" lang="en">
                <a:solidFill>
                  <a:schemeClr val="dk1"/>
                </a:solidFill>
              </a:rPr>
              <a:t>Random Forest Regression Model</a:t>
            </a:r>
            <a:r>
              <a:rPr lang="en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(Transition to the next slide)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b3f573e43_0_27:notes"/>
          <p:cNvSpPr/>
          <p:nvPr>
            <p:ph idx="2" type="sldImg"/>
          </p:nvPr>
        </p:nvSpPr>
        <p:spPr>
          <a:xfrm>
            <a:off x="1143288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b3f573e4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"Moving to our Exploratory Data Analysis, this slide shows the global time trends for account ownership, which confirmed two critical findings for our model."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(Reference the trend line in the chart: 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"First, the most encouraging sign for our investment thesis is the clear, </a:t>
            </a:r>
            <a:r>
              <a:rPr b="1" lang="en">
                <a:solidFill>
                  <a:schemeClr val="dk1"/>
                </a:solidFill>
              </a:rPr>
              <a:t>upward, year-over-year trend in mobile account adoption</a:t>
            </a:r>
            <a:r>
              <a:rPr lang="en">
                <a:solidFill>
                  <a:schemeClr val="dk1"/>
                </a:solidFill>
              </a:rPr>
              <a:t>. This confirms that the 'year' feature is a foundational, significant, and reliable driver in our model. The market is moving in the right direction."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(Point to the gap between the two lines)</a:t>
            </a:r>
            <a:r>
              <a:rPr lang="en">
                <a:solidFill>
                  <a:schemeClr val="dk1"/>
                </a:solidFill>
              </a:rPr>
              <a:t> "Second, the gap between Mobile Account Ownership and Any Account Ownership shows that </a:t>
            </a:r>
            <a:r>
              <a:rPr b="1" lang="en">
                <a:solidFill>
                  <a:schemeClr val="dk1"/>
                </a:solidFill>
              </a:rPr>
              <a:t>Financial Inclusion is being driven by mobile technology</a:t>
            </a:r>
            <a:r>
              <a:rPr lang="en">
                <a:solidFill>
                  <a:schemeClr val="dk1"/>
                </a:solidFill>
              </a:rPr>
              <a:t>. Mobile accounts are growing, often outpacing the slower, traditional banking efforts in developing regions—this is the growth opportunity we are targeting."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(Address the 2022 anomaly)</a:t>
            </a:r>
            <a:r>
              <a:rPr lang="en">
                <a:solidFill>
                  <a:schemeClr val="dk1"/>
                </a:solidFill>
              </a:rPr>
              <a:t> "Finally, a quick note on data quality: You'll notice the sharp drop in 2022, followed by a sudden recovery in 2024. We flagged this as a potential </a:t>
            </a:r>
            <a:r>
              <a:rPr b="1" lang="en">
                <a:solidFill>
                  <a:schemeClr val="dk1"/>
                </a:solidFill>
              </a:rPr>
              <a:t>Data Anomaly</a:t>
            </a:r>
            <a:r>
              <a:rPr lang="en">
                <a:solidFill>
                  <a:schemeClr val="dk1"/>
                </a:solidFill>
              </a:rPr>
              <a:t>—likely due to post-COVID sampling changes or a temporary economic shock—rather than a true reversal of the long-term trend. By identifying this, we avoid letting an anomaly skew our model's long-term predictions."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(Transition to the next slide)</a:t>
            </a:r>
            <a:r>
              <a:rPr lang="en">
                <a:solidFill>
                  <a:schemeClr val="dk1"/>
                </a:solidFill>
              </a:rPr>
              <a:t> "With these trends validated and the anomaly accounted for, we were ready to build and validate our model."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b3f573e43_0_46:notes"/>
          <p:cNvSpPr/>
          <p:nvPr>
            <p:ph idx="2" type="sldImg"/>
          </p:nvPr>
        </p:nvSpPr>
        <p:spPr>
          <a:xfrm>
            <a:off x="1143288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b3f573e4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began our analysis by building the most basic predictive model, </a:t>
            </a:r>
            <a:r>
              <a:rPr b="1" lang="en">
                <a:solidFill>
                  <a:schemeClr val="dk1"/>
                </a:solidFill>
              </a:rPr>
              <a:t>Linear Regression</a:t>
            </a:r>
            <a:r>
              <a:rPr lang="en">
                <a:solidFill>
                  <a:schemeClr val="dk1"/>
                </a:solidFill>
              </a:rPr>
              <a:t>. This slide shows why that simple approach completely failed."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1. The Model's Failure Score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model's final </a:t>
            </a:r>
            <a:r>
              <a:rPr b="1" lang="en">
                <a:solidFill>
                  <a:schemeClr val="dk1"/>
                </a:solidFill>
              </a:rPr>
              <a:t>accuracy score (R</a:t>
            </a:r>
            <a:r>
              <a:rPr b="1" baseline="30000" lang="en">
                <a:solidFill>
                  <a:schemeClr val="dk1"/>
                </a:solidFill>
              </a:rPr>
              <a:t>2</a:t>
            </a:r>
            <a:r>
              <a:rPr b="1" lang="en">
                <a:solidFill>
                  <a:schemeClr val="dk1"/>
                </a:solidFill>
              </a:rPr>
              <a:t>) was only 0.118</a:t>
            </a:r>
            <a:r>
              <a:rPr lang="en">
                <a:solidFill>
                  <a:schemeClr val="dk1"/>
                </a:solidFill>
              </a:rPr>
              <a:t>. This means the model could only explain </a:t>
            </a:r>
            <a:r>
              <a:rPr b="1" lang="en">
                <a:solidFill>
                  <a:schemeClr val="dk1"/>
                </a:solidFill>
              </a:rPr>
              <a:t>11.8%</a:t>
            </a:r>
            <a:r>
              <a:rPr lang="en">
                <a:solidFill>
                  <a:schemeClr val="dk1"/>
                </a:solidFill>
              </a:rPr>
              <a:t> of why adoption rates differ across countries. That's a </a:t>
            </a:r>
            <a:r>
              <a:rPr b="1" lang="en">
                <a:solidFill>
                  <a:schemeClr val="dk1"/>
                </a:solidFill>
              </a:rPr>
              <a:t>failure score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2. The Cause: The Model Lied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Why did it fail so badly? Look at the graph on the right. We call this our model's </a:t>
            </a:r>
            <a:r>
              <a:rPr b="1" lang="en">
                <a:solidFill>
                  <a:schemeClr val="dk1"/>
                </a:solidFill>
              </a:rPr>
              <a:t>'lie detector' test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most fundamental rule is that a simple model assumes adoption grows in a </a:t>
            </a:r>
            <a:r>
              <a:rPr b="1" lang="en">
                <a:solidFill>
                  <a:schemeClr val="dk1"/>
                </a:solidFill>
              </a:rPr>
              <a:t>straight line</a:t>
            </a:r>
            <a:r>
              <a:rPr lang="en">
                <a:solidFill>
                  <a:schemeClr val="dk1"/>
                </a:solidFill>
              </a:rPr>
              <a:t>. But because of the complex data we saw in the previous slides, this plot shows a clear </a:t>
            </a:r>
            <a:r>
              <a:rPr b="1" lang="en">
                <a:solidFill>
                  <a:schemeClr val="dk1"/>
                </a:solidFill>
              </a:rPr>
              <a:t>non-random pattern</a:t>
            </a:r>
            <a:r>
              <a:rPr lang="en">
                <a:solidFill>
                  <a:schemeClr val="dk1"/>
                </a:solidFill>
              </a:rPr>
              <a:t>—it's bowing and curving. This proves the model was </a:t>
            </a:r>
            <a:r>
              <a:rPr b="1" lang="en">
                <a:solidFill>
                  <a:schemeClr val="dk1"/>
                </a:solidFill>
              </a:rPr>
              <a:t>lying</a:t>
            </a:r>
            <a:r>
              <a:rPr lang="en">
                <a:solidFill>
                  <a:schemeClr val="dk1"/>
                </a:solidFill>
              </a:rPr>
              <a:t>; it simply can't handle the real-world complexity of this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3. The Action Taken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Because the model is invalid and provides a useless accuracy score, we must </a:t>
            </a:r>
            <a:r>
              <a:rPr b="1" lang="en">
                <a:solidFill>
                  <a:schemeClr val="dk1"/>
                </a:solidFill>
              </a:rPr>
              <a:t>reject it for prediction</a:t>
            </a:r>
            <a:r>
              <a:rPr lang="en">
                <a:solidFill>
                  <a:schemeClr val="dk1"/>
                </a:solidFill>
              </a:rPr>
              <a:t>. However, we first cleaned up a minor </a:t>
            </a:r>
            <a:r>
              <a:rPr b="1" lang="en">
                <a:solidFill>
                  <a:schemeClr val="dk1"/>
                </a:solidFill>
              </a:rPr>
              <a:t>structural error</a:t>
            </a:r>
            <a:r>
              <a:rPr lang="en">
                <a:solidFill>
                  <a:schemeClr val="dk1"/>
                </a:solidFill>
              </a:rPr>
              <a:t> (our VIF flaw), which allows us to safely pull out the reliable drivers before moving to a better solution.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4. Transition to Slide 6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are rejecting this model, but we need the insight from the factors that were statistically significant. This leads us to </a:t>
            </a:r>
            <a:r>
              <a:rPr b="1" lang="en">
                <a:solidFill>
                  <a:schemeClr val="dk1"/>
                </a:solidFill>
              </a:rPr>
              <a:t>Slide 6</a:t>
            </a:r>
            <a:r>
              <a:rPr lang="en">
                <a:solidFill>
                  <a:schemeClr val="dk1"/>
                </a:solidFill>
              </a:rPr>
              <a:t>, where we confirm the fundamental drivers before finding our successful predictive model.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b3f573e43_0_57:notes"/>
          <p:cNvSpPr/>
          <p:nvPr>
            <p:ph idx="2" type="sldImg"/>
          </p:nvPr>
        </p:nvSpPr>
        <p:spPr>
          <a:xfrm>
            <a:off x="1143288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b3f573e4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notes focus on translating the coefficients and highlighting the pop_adult contradiction as the main reason for the pivot.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Even though the OLS model failed to predict accurately, we stabilized the math to pull out some reliable, foundational insights. This table shows the factors that are definitely important, with a </a:t>
            </a:r>
            <a:r>
              <a:rPr b="1" lang="en">
                <a:solidFill>
                  <a:schemeClr val="dk1"/>
                </a:solidFill>
              </a:rPr>
              <a:t>P-value of 0.000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coefficients</a:t>
            </a:r>
            <a:r>
              <a:rPr lang="en">
                <a:solidFill>
                  <a:schemeClr val="dk1"/>
                </a:solidFill>
              </a:rPr>
              <a:t> here tell us the </a:t>
            </a:r>
            <a:r>
              <a:rPr b="1" lang="en">
                <a:solidFill>
                  <a:schemeClr val="dk1"/>
                </a:solidFill>
              </a:rPr>
              <a:t>strength and direction of the relationship</a:t>
            </a:r>
            <a:r>
              <a:rPr lang="en">
                <a:solidFill>
                  <a:schemeClr val="dk1"/>
                </a:solidFill>
              </a:rPr>
              <a:t>. They confirm a few things we already suspected: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Sub-Saharan Africa</a:t>
            </a:r>
            <a:r>
              <a:rPr lang="en">
                <a:solidFill>
                  <a:schemeClr val="dk1"/>
                </a:solidFill>
              </a:rPr>
              <a:t> region has the strongest unique positive effect on adoption.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Year</a:t>
            </a:r>
            <a:r>
              <a:rPr lang="en">
                <a:solidFill>
                  <a:schemeClr val="dk1"/>
                </a:solidFill>
              </a:rPr>
              <a:t> confirms our EDA: adoption is increasing steadily by about 4.1% every year.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And access to both </a:t>
            </a:r>
            <a:r>
              <a:rPr b="1" lang="en">
                <a:solidFill>
                  <a:schemeClr val="dk1"/>
                </a:solidFill>
              </a:rPr>
              <a:t>Traditional Banking</a:t>
            </a:r>
            <a:r>
              <a:rPr lang="en">
                <a:solidFill>
                  <a:schemeClr val="dk1"/>
                </a:solidFill>
              </a:rPr>
              <a:t> and the </a:t>
            </a:r>
            <a:r>
              <a:rPr b="1" lang="en">
                <a:solidFill>
                  <a:schemeClr val="dk1"/>
                </a:solidFill>
              </a:rPr>
              <a:t>Internet</a:t>
            </a:r>
            <a:r>
              <a:rPr lang="en">
                <a:solidFill>
                  <a:schemeClr val="dk1"/>
                </a:solidFill>
              </a:rPr>
              <a:t> strongly supports Mobile Money growth.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The Crucial Contradiction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However, there is a </a:t>
            </a:r>
            <a:r>
              <a:rPr b="1" lang="en">
                <a:solidFill>
                  <a:schemeClr val="dk1"/>
                </a:solidFill>
              </a:rPr>
              <a:t>CRUCIAL FLAW</a:t>
            </a:r>
            <a:r>
              <a:rPr lang="en">
                <a:solidFill>
                  <a:schemeClr val="dk1"/>
                </a:solidFill>
              </a:rPr>
              <a:t> here that we must address. The OLS model found that </a:t>
            </a:r>
            <a:r>
              <a:rPr b="1" lang="en">
                <a:solidFill>
                  <a:schemeClr val="dk1"/>
                </a:solidFill>
              </a:rPr>
              <a:t>Adult Population</a:t>
            </a:r>
            <a:r>
              <a:rPr lang="en">
                <a:solidFill>
                  <a:schemeClr val="dk1"/>
                </a:solidFill>
              </a:rPr>
              <a:t>, or </a:t>
            </a:r>
            <a:r>
              <a:rPr b="1" lang="en">
                <a:solidFill>
                  <a:schemeClr val="dk1"/>
                </a:solidFill>
              </a:rPr>
              <a:t>market size</a:t>
            </a:r>
            <a:r>
              <a:rPr lang="en">
                <a:solidFill>
                  <a:schemeClr val="dk1"/>
                </a:solidFill>
              </a:rPr>
              <a:t>, was </a:t>
            </a:r>
            <a:r>
              <a:rPr b="1" lang="en">
                <a:solidFill>
                  <a:schemeClr val="dk1"/>
                </a:solidFill>
              </a:rPr>
              <a:t>NOT statistically significant</a:t>
            </a:r>
            <a:r>
              <a:rPr lang="en">
                <a:solidFill>
                  <a:schemeClr val="dk1"/>
                </a:solidFill>
              </a:rPr>
              <a:t>. It basically told us to </a:t>
            </a:r>
            <a:r>
              <a:rPr b="1" lang="en">
                <a:solidFill>
                  <a:schemeClr val="dk1"/>
                </a:solidFill>
              </a:rPr>
              <a:t>ignore market size</a:t>
            </a:r>
            <a:r>
              <a:rPr lang="en">
                <a:solidFill>
                  <a:schemeClr val="dk1"/>
                </a:solidFill>
              </a:rPr>
              <a:t> completely in our strategy.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The Pivot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Since the model failed with an </a:t>
            </a:r>
            <a:r>
              <a:rPr b="1" lang="en">
                <a:solidFill>
                  <a:schemeClr val="dk1"/>
                </a:solidFill>
              </a:rPr>
              <a:t>R</a:t>
            </a:r>
            <a:r>
              <a:rPr b="1" baseline="30000" lang="en">
                <a:solidFill>
                  <a:schemeClr val="dk1"/>
                </a:solidFill>
              </a:rPr>
              <a:t>2</a:t>
            </a:r>
            <a:r>
              <a:rPr b="1" lang="en">
                <a:solidFill>
                  <a:schemeClr val="dk1"/>
                </a:solidFill>
              </a:rPr>
              <a:t> score of only 11.8%</a:t>
            </a:r>
            <a:r>
              <a:rPr lang="en">
                <a:solidFill>
                  <a:schemeClr val="dk1"/>
                </a:solidFill>
              </a:rPr>
              <a:t>, and because it missed the effect of something as fundamental as population, we are fully justified in rejecting 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must </a:t>
            </a:r>
            <a:r>
              <a:rPr b="1" lang="en">
                <a:solidFill>
                  <a:schemeClr val="dk1"/>
                </a:solidFill>
              </a:rPr>
              <a:t>Pivot to the Random Forest Regressor</a:t>
            </a:r>
            <a:r>
              <a:rPr lang="en">
                <a:solidFill>
                  <a:schemeClr val="dk1"/>
                </a:solidFill>
              </a:rPr>
              <a:t>. The Random Forest will now solve the predictive problem and—critically—show us if that missing non-linear effect of market size (pop_adult) is actually one of the most important drivers.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b3f573e43_0_83:notes"/>
          <p:cNvSpPr/>
          <p:nvPr>
            <p:ph idx="2" type="sldImg"/>
          </p:nvPr>
        </p:nvSpPr>
        <p:spPr>
          <a:xfrm>
            <a:off x="1143288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b3f573e4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After rejecting the flawed Linear Regression, we strategically switched to the </a:t>
            </a:r>
            <a:r>
              <a:rPr b="1" lang="en">
                <a:solidFill>
                  <a:schemeClr val="dk1"/>
                </a:solidFill>
              </a:rPr>
              <a:t>Random Forest Regressor</a:t>
            </a:r>
            <a:r>
              <a:rPr lang="en">
                <a:solidFill>
                  <a:schemeClr val="dk1"/>
                </a:solidFill>
              </a:rPr>
              <a:t>. This is an advanced modeling technique, designed specifically to capture the </a:t>
            </a:r>
            <a:r>
              <a:rPr b="1" lang="en">
                <a:solidFill>
                  <a:schemeClr val="dk1"/>
                </a:solidFill>
              </a:rPr>
              <a:t>complex, non-linear relationships</a:t>
            </a:r>
            <a:r>
              <a:rPr lang="en">
                <a:solidFill>
                  <a:schemeClr val="dk1"/>
                </a:solidFill>
              </a:rPr>
              <a:t> that the simple model completely missed.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 result was a </a:t>
            </a:r>
            <a:r>
              <a:rPr b="1" lang="en">
                <a:solidFill>
                  <a:schemeClr val="dk1"/>
                </a:solidFill>
              </a:rPr>
              <a:t>dramatic success!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(Point to the comparison on the slide)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Look at the pivot: the failure score from the OLS model was only 0.127. By switching, we achieved a highly successful score of 0.6804.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represents a </a:t>
            </a:r>
            <a:r>
              <a:rPr b="1" lang="en">
                <a:solidFill>
                  <a:schemeClr val="dk1"/>
                </a:solidFill>
              </a:rPr>
              <a:t>534% increase</a:t>
            </a:r>
            <a:r>
              <a:rPr lang="en">
                <a:solidFill>
                  <a:schemeClr val="dk1"/>
                </a:solidFill>
              </a:rPr>
              <a:t> in our ability to explain the data! This high R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 score is our validation—it proves we solved the core problem of non-linearity. Our model is now accurate enough, explaining over </a:t>
            </a:r>
            <a:r>
              <a:rPr b="1" lang="en">
                <a:solidFill>
                  <a:schemeClr val="dk1"/>
                </a:solidFill>
              </a:rPr>
              <a:t>two-thirds</a:t>
            </a:r>
            <a:r>
              <a:rPr lang="en">
                <a:solidFill>
                  <a:schemeClr val="dk1"/>
                </a:solidFill>
              </a:rPr>
              <a:t> of the variance, to build robust strategy upon."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(Transition to Slide 8)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 the success of the Random Forest goes beyond the high score. It completely changes what we know about the </a:t>
            </a:r>
            <a:r>
              <a:rPr b="1" lang="en">
                <a:solidFill>
                  <a:schemeClr val="dk1"/>
                </a:solidFill>
              </a:rPr>
              <a:t>drivers</a:t>
            </a:r>
            <a:r>
              <a:rPr lang="en">
                <a:solidFill>
                  <a:schemeClr val="dk1"/>
                </a:solidFill>
              </a:rPr>
              <a:t>. Remember that the simple model told us to </a:t>
            </a:r>
            <a:r>
              <a:rPr b="1" lang="en">
                <a:solidFill>
                  <a:schemeClr val="dk1"/>
                </a:solidFill>
              </a:rPr>
              <a:t>ignore market size (pop_adult)</a:t>
            </a:r>
            <a:r>
              <a:rPr lang="en">
                <a:solidFill>
                  <a:schemeClr val="dk1"/>
                </a:solidFill>
              </a:rPr>
              <a:t>? We'll see on the next slide that the successful model tells us the exact opposite. Let's look at the </a:t>
            </a:r>
            <a:r>
              <a:rPr b="1" lang="en">
                <a:solidFill>
                  <a:schemeClr val="dk1"/>
                </a:solidFill>
              </a:rPr>
              <a:t>Feature Importance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b3f573e43_1_40:notes"/>
          <p:cNvSpPr/>
          <p:nvPr>
            <p:ph idx="2" type="sldImg"/>
          </p:nvPr>
        </p:nvSpPr>
        <p:spPr>
          <a:xfrm>
            <a:off x="1143288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b3f573e43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With our highly accurate Random Forest model, we can now see the </a:t>
            </a:r>
            <a:r>
              <a:rPr b="1" lang="en">
                <a:solidFill>
                  <a:schemeClr val="dk1"/>
                </a:solidFill>
              </a:rPr>
              <a:t>true predictive levers</a:t>
            </a:r>
            <a:r>
              <a:rPr lang="en">
                <a:solidFill>
                  <a:schemeClr val="dk1"/>
                </a:solidFill>
              </a:rPr>
              <a:t>. This chart shows our </a:t>
            </a:r>
            <a:r>
              <a:rPr b="1" lang="en">
                <a:solidFill>
                  <a:schemeClr val="dk1"/>
                </a:solidFill>
              </a:rPr>
              <a:t>Feature Importance</a:t>
            </a:r>
            <a:r>
              <a:rPr lang="en">
                <a:solidFill>
                  <a:schemeClr val="dk1"/>
                </a:solidFill>
              </a:rPr>
              <a:t>—the exact factors that drove our high R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 score.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(Point to the chart, specifically the top bar)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top three factors—</a:t>
            </a:r>
            <a:r>
              <a:rPr b="1" lang="en">
                <a:solidFill>
                  <a:schemeClr val="dk1"/>
                </a:solidFill>
              </a:rPr>
              <a:t>pop_adult, Traditional Banking, and Internet</a:t>
            </a:r>
            <a:r>
              <a:rPr lang="en">
                <a:solidFill>
                  <a:schemeClr val="dk1"/>
                </a:solidFill>
              </a:rPr>
              <a:t>—are responsible for over 70% of the model's predictive power. This proves that adoption is a three-part story.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most important business insight is highlighted in the </a:t>
            </a:r>
            <a:r>
              <a:rPr b="1" lang="en">
                <a:solidFill>
                  <a:schemeClr val="dk1"/>
                </a:solidFill>
              </a:rPr>
              <a:t>Contradiction</a:t>
            </a:r>
            <a:r>
              <a:rPr lang="en">
                <a:solidFill>
                  <a:schemeClr val="dk1"/>
                </a:solidFill>
              </a:rPr>
              <a:t> on the right. Remember, the flawed OLS model told us to </a:t>
            </a:r>
            <a:r>
              <a:rPr b="1" lang="en">
                <a:solidFill>
                  <a:schemeClr val="dk1"/>
                </a:solidFill>
              </a:rPr>
              <a:t>ignore market size (pop_adult) entirely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successful Random Forest model proves the exact opposite—that pop_adult is the </a:t>
            </a:r>
            <a:r>
              <a:rPr b="1" lang="en">
                <a:solidFill>
                  <a:schemeClr val="dk1"/>
                </a:solidFill>
              </a:rPr>
              <a:t>SINGLE MOST IMPORTANT FACTOR</a:t>
            </a:r>
            <a:r>
              <a:rPr lang="en">
                <a:solidFill>
                  <a:schemeClr val="dk1"/>
                </a:solidFill>
              </a:rPr>
              <a:t> at 31.1% importance.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reveals the strategic reality: Market size is </a:t>
            </a:r>
            <a:r>
              <a:rPr b="1" lang="en">
                <a:solidFill>
                  <a:schemeClr val="dk1"/>
                </a:solidFill>
              </a:rPr>
              <a:t>not simply proportional</a:t>
            </a:r>
            <a:r>
              <a:rPr lang="en">
                <a:solidFill>
                  <a:schemeClr val="dk1"/>
                </a:solidFill>
              </a:rPr>
              <a:t> to adoption; it acts as a </a:t>
            </a:r>
            <a:r>
              <a:rPr b="1" lang="en">
                <a:solidFill>
                  <a:schemeClr val="dk1"/>
                </a:solidFill>
              </a:rPr>
              <a:t>non-linear threshold</a:t>
            </a:r>
            <a:r>
              <a:rPr lang="en">
                <a:solidFill>
                  <a:schemeClr val="dk1"/>
                </a:solidFill>
              </a:rPr>
              <a:t>. You only see explosive growth when a large population base </a:t>
            </a:r>
            <a:r>
              <a:rPr b="1" lang="en">
                <a:solidFill>
                  <a:schemeClr val="dk1"/>
                </a:solidFill>
              </a:rPr>
              <a:t>meets high internet and banking access</a:t>
            </a:r>
            <a:r>
              <a:rPr lang="en">
                <a:solidFill>
                  <a:schemeClr val="dk1"/>
                </a:solidFill>
              </a:rPr>
              <a:t>. This is the key insight we translate for strategic use.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(Transition to Slide 9)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Now that we've found the true drivers, we move to </a:t>
            </a:r>
            <a:r>
              <a:rPr b="1" lang="en">
                <a:solidFill>
                  <a:schemeClr val="dk1"/>
                </a:solidFill>
              </a:rPr>
              <a:t>Slide 9</a:t>
            </a:r>
            <a:r>
              <a:rPr lang="en">
                <a:solidFill>
                  <a:schemeClr val="dk1"/>
                </a:solidFill>
              </a:rPr>
              <a:t> to show how we translate these findings into a practical tool for strategy—our Tableau dashboard.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12f8e9f97_0_0:notes"/>
          <p:cNvSpPr/>
          <p:nvPr>
            <p:ph idx="2" type="sldImg"/>
          </p:nvPr>
        </p:nvSpPr>
        <p:spPr>
          <a:xfrm>
            <a:off x="1143288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12f8e9f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(Start of Slide 9)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"Our highly accurate Random Forest model is very useful, but business stakeholders need to see the results in a clear, geographic way. We built this Tableau dashboard to </a:t>
            </a:r>
            <a:r>
              <a:rPr b="1" lang="en">
                <a:solidFill>
                  <a:schemeClr val="dk1"/>
                </a:solidFill>
              </a:rPr>
              <a:t>translate our high R-squared score into an intuitive, strategic tool.</a:t>
            </a:r>
            <a:r>
              <a:rPr lang="en">
                <a:solidFill>
                  <a:schemeClr val="dk1"/>
                </a:solidFill>
              </a:rPr>
              <a:t>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(Point to the Quadrant Chart)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"The dashboard allows strategists to visualize </a:t>
            </a:r>
            <a:r>
              <a:rPr b="1" lang="en">
                <a:solidFill>
                  <a:schemeClr val="dk1"/>
                </a:solidFill>
              </a:rPr>
              <a:t>Structural Readiness</a:t>
            </a:r>
            <a:r>
              <a:rPr lang="en">
                <a:solidFill>
                  <a:schemeClr val="dk1"/>
                </a:solidFill>
              </a:rPr>
              <a:t> against </a:t>
            </a:r>
            <a:r>
              <a:rPr b="1" lang="en">
                <a:solidFill>
                  <a:schemeClr val="dk1"/>
                </a:solidFill>
              </a:rPr>
              <a:t>Market Scale</a:t>
            </a:r>
            <a:r>
              <a:rPr lang="en">
                <a:solidFill>
                  <a:schemeClr val="dk1"/>
                </a:solidFill>
              </a:rPr>
              <a:t> in the quadrant, easily filtering for regions that meet our readiness thresholds."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(Point to the Ranking Table/Sheet 3)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"The most valuable feature is the </a:t>
            </a:r>
            <a:r>
              <a:rPr b="1" lang="en">
                <a:solidFill>
                  <a:schemeClr val="dk1"/>
                </a:solidFill>
              </a:rPr>
              <a:t>Strategic Market Entry Ranking</a:t>
            </a:r>
            <a:r>
              <a:rPr lang="en">
                <a:solidFill>
                  <a:schemeClr val="dk1"/>
                </a:solidFill>
              </a:rPr>
              <a:t>, which is driven by the </a:t>
            </a:r>
            <a:r>
              <a:rPr b="1" lang="en">
                <a:solidFill>
                  <a:schemeClr val="dk1"/>
                </a:solidFill>
              </a:rPr>
              <a:t>Strategic Score</a:t>
            </a:r>
            <a:r>
              <a:rPr lang="en">
                <a:solidFill>
                  <a:schemeClr val="dk1"/>
                </a:solidFill>
              </a:rPr>
              <a:t> we calculated. It combines the raw opportunity with the structural readiness metrics to provide a single, </a:t>
            </a:r>
            <a:r>
              <a:rPr b="1" lang="en">
                <a:solidFill>
                  <a:schemeClr val="dk1"/>
                </a:solidFill>
              </a:rPr>
              <a:t>risk-weighted priority list.</a:t>
            </a:r>
            <a:r>
              <a:rPr lang="en">
                <a:solidFill>
                  <a:schemeClr val="dk1"/>
                </a:solidFill>
              </a:rPr>
              <a:t>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"This feature helps answer the core business question: </a:t>
            </a:r>
            <a:r>
              <a:rPr b="1" lang="en">
                <a:solidFill>
                  <a:schemeClr val="dk1"/>
                </a:solidFill>
              </a:rPr>
              <a:t>Where should we focus our resources right now?</a:t>
            </a:r>
            <a:r>
              <a:rPr lang="en">
                <a:solidFill>
                  <a:schemeClr val="dk1"/>
                </a:solidFill>
              </a:rPr>
              <a:t> Our analysis recommends immediate focus on China, India, and the United States."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(Transition to Final Slide)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"This dashboard is the final deliverable. Now that we have the validated model and the strategic tool, let’s summarize our key conclusions and our final recommendations for the business."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(End of Slide 9)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12f8e9f97_0_13:notes"/>
          <p:cNvSpPr/>
          <p:nvPr>
            <p:ph idx="2" type="sldImg"/>
          </p:nvPr>
        </p:nvSpPr>
        <p:spPr>
          <a:xfrm>
            <a:off x="1143292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12f8e9f9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"This slide summarizes our key takeaways from the entire analytical process. We started with the technical rigor and are concluding with the business impact."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(Point to the Model Validation bullet)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"First, our Random Forest model is statistically validated with a high R-squared score, confirming the predictive power of the three key drivers we identified: Internet Penetration, Banking Access, and Population Scale. We know why markets will adopt our product."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(Point to the Market Identification bullet)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"Second, by segmenting markets, we successfully identified the 'Sweet Spot'—markets that are both structurally ready (above the $50\%$ thresholds for internet and banking) and possess sufficient scale to justify investment."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(Point to the Final Priority bullet)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"Third, and most important, the Strategic Score allowed us to prioritize action. It moves us beyond raw potential to a risk-weighted, definitive priority list. Our data shows China, India, and the U.S. are the immediate targets."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(Point to the Data Transparency bullet)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"Finally, the entire process is packaged in the Tableau dashboard, which acts as a dynamic, single-source of truth. Any strategist can use it to test assumptions and make efficient, data-driven decisions."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(Transition to the next slide)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"Now that we have the validated strategy, let’s look at the specific actions we recommend to the business."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12f8e9f97_0_23:notes"/>
          <p:cNvSpPr/>
          <p:nvPr>
            <p:ph idx="2" type="sldImg"/>
          </p:nvPr>
        </p:nvSpPr>
        <p:spPr>
          <a:xfrm>
            <a:off x="1143292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12f8e9f9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"Our recommendations are direct, data-driven, and focused on maximizing the return on investment."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(Point to the Immediate Action bullet)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"The immediate action item is resource allocation. We must allocate market entry teams and budget to the Top 3 Strategic Priority Markets—China, India, and the U.S.—within the next quarter to capitalize on their predicted growth."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(Point to the Data Strategy bullet)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"Next, we must address the data gap. Our model relied on the ZN() </a:t>
            </a:r>
            <a:r>
              <a:rPr lang="en">
                <a:solidFill>
                  <a:schemeClr val="dk1"/>
                </a:solidFill>
              </a:rPr>
              <a:t>function</a:t>
            </a:r>
            <a:r>
              <a:rPr lang="en"/>
              <a:t> - zero if null; its a function in tableau that handles missing values - to handle the missing Market Opportunity forecasts. We recommend prioritizing data acquisition in those markets to refine the model's accuracy and remove the reliance on assumptions."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(Point to the Future Model Refinement bullet)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"Finally, this model cannot be static. We recommend implementing a quarterly model re-evaluation process. This ensures the Strategic Score remains current, adapting our investment priorities to the rapidly changing dynamics of global markets."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(Final Closing Statement)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"Thank you. This analysis provides a clear, defensible path for global market entry and resource allocation. I am now open to any questions you have regarding the model, the analysis, or the final recommendations."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870250" y="5956600"/>
            <a:ext cx="51123000" cy="16421400"/>
          </a:xfrm>
          <a:prstGeom prst="rect">
            <a:avLst/>
          </a:prstGeom>
        </p:spPr>
        <p:txBody>
          <a:bodyPr anchorCtr="0" anchor="b" bIns="386925" lIns="386925" spcFirstLastPara="1" rIns="386925" wrap="square" tIns="38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6"/>
              <a:buNone/>
              <a:defRPr sz="22005"/>
            </a:lvl1pPr>
            <a:lvl2pPr lvl="1" algn="ctr">
              <a:spcBef>
                <a:spcPts val="0"/>
              </a:spcBef>
              <a:spcAft>
                <a:spcPts val="0"/>
              </a:spcAft>
              <a:buSzPts val="22006"/>
              <a:buNone/>
              <a:defRPr sz="22005"/>
            </a:lvl2pPr>
            <a:lvl3pPr lvl="2" algn="ctr">
              <a:spcBef>
                <a:spcPts val="0"/>
              </a:spcBef>
              <a:spcAft>
                <a:spcPts val="0"/>
              </a:spcAft>
              <a:buSzPts val="22006"/>
              <a:buNone/>
              <a:defRPr sz="22005"/>
            </a:lvl3pPr>
            <a:lvl4pPr lvl="3" algn="ctr">
              <a:spcBef>
                <a:spcPts val="0"/>
              </a:spcBef>
              <a:spcAft>
                <a:spcPts val="0"/>
              </a:spcAft>
              <a:buSzPts val="22006"/>
              <a:buNone/>
              <a:defRPr sz="22005"/>
            </a:lvl4pPr>
            <a:lvl5pPr lvl="4" algn="ctr">
              <a:spcBef>
                <a:spcPts val="0"/>
              </a:spcBef>
              <a:spcAft>
                <a:spcPts val="0"/>
              </a:spcAft>
              <a:buSzPts val="22006"/>
              <a:buNone/>
              <a:defRPr sz="22005"/>
            </a:lvl5pPr>
            <a:lvl6pPr lvl="5" algn="ctr">
              <a:spcBef>
                <a:spcPts val="0"/>
              </a:spcBef>
              <a:spcAft>
                <a:spcPts val="0"/>
              </a:spcAft>
              <a:buSzPts val="22006"/>
              <a:buNone/>
              <a:defRPr sz="22005"/>
            </a:lvl6pPr>
            <a:lvl7pPr lvl="6" algn="ctr">
              <a:spcBef>
                <a:spcPts val="0"/>
              </a:spcBef>
              <a:spcAft>
                <a:spcPts val="0"/>
              </a:spcAft>
              <a:buSzPts val="22006"/>
              <a:buNone/>
              <a:defRPr sz="22005"/>
            </a:lvl7pPr>
            <a:lvl8pPr lvl="7" algn="ctr">
              <a:spcBef>
                <a:spcPts val="0"/>
              </a:spcBef>
              <a:spcAft>
                <a:spcPts val="0"/>
              </a:spcAft>
              <a:buSzPts val="22006"/>
              <a:buNone/>
              <a:defRPr sz="22005"/>
            </a:lvl8pPr>
            <a:lvl9pPr lvl="8" algn="ctr">
              <a:spcBef>
                <a:spcPts val="0"/>
              </a:spcBef>
              <a:spcAft>
                <a:spcPts val="0"/>
              </a:spcAft>
              <a:buSzPts val="22006"/>
              <a:buNone/>
              <a:defRPr sz="22005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870200" y="22673000"/>
            <a:ext cx="51123000" cy="63414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0834747" y="37305734"/>
            <a:ext cx="3292800" cy="3149100"/>
          </a:xfrm>
          <a:prstGeom prst="rect">
            <a:avLst/>
          </a:prstGeom>
        </p:spPr>
        <p:txBody>
          <a:bodyPr anchorCtr="0" anchor="ctr" bIns="386925" lIns="386925" spcFirstLastPara="1" rIns="386925" wrap="square" tIns="386925">
            <a:normAutofit/>
          </a:bodyPr>
          <a:lstStyle>
            <a:lvl1pPr lvl="0">
              <a:buNone/>
              <a:defRPr sz="4231"/>
            </a:lvl1pPr>
            <a:lvl2pPr lvl="1">
              <a:buNone/>
              <a:defRPr sz="4231"/>
            </a:lvl2pPr>
            <a:lvl3pPr lvl="2">
              <a:buNone/>
              <a:defRPr sz="4231"/>
            </a:lvl3pPr>
            <a:lvl4pPr lvl="3">
              <a:buNone/>
              <a:defRPr sz="4231"/>
            </a:lvl4pPr>
            <a:lvl5pPr lvl="4">
              <a:buNone/>
              <a:defRPr sz="4231"/>
            </a:lvl5pPr>
            <a:lvl6pPr lvl="5">
              <a:buNone/>
              <a:defRPr sz="4231"/>
            </a:lvl6pPr>
            <a:lvl7pPr lvl="6">
              <a:buNone/>
              <a:defRPr sz="4231"/>
            </a:lvl7pPr>
            <a:lvl8pPr lvl="7">
              <a:buNone/>
              <a:defRPr sz="4231"/>
            </a:lvl8pPr>
            <a:lvl9pPr lvl="8">
              <a:buNone/>
              <a:defRPr sz="423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870200" y="17206800"/>
            <a:ext cx="51123000" cy="6732900"/>
          </a:xfrm>
          <a:prstGeom prst="rect">
            <a:avLst/>
          </a:prstGeom>
        </p:spPr>
        <p:txBody>
          <a:bodyPr anchorCtr="0" anchor="ctr" bIns="386925" lIns="386925" spcFirstLastPara="1" rIns="386925" wrap="square" tIns="38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35"/>
              <a:buNone/>
              <a:defRPr sz="15234"/>
            </a:lvl1pPr>
            <a:lvl2pPr lvl="1" algn="ctr">
              <a:spcBef>
                <a:spcPts val="0"/>
              </a:spcBef>
              <a:spcAft>
                <a:spcPts val="0"/>
              </a:spcAft>
              <a:buSzPts val="15235"/>
              <a:buNone/>
              <a:defRPr sz="15234"/>
            </a:lvl2pPr>
            <a:lvl3pPr lvl="2" algn="ctr">
              <a:spcBef>
                <a:spcPts val="0"/>
              </a:spcBef>
              <a:spcAft>
                <a:spcPts val="0"/>
              </a:spcAft>
              <a:buSzPts val="15235"/>
              <a:buNone/>
              <a:defRPr sz="15234"/>
            </a:lvl3pPr>
            <a:lvl4pPr lvl="3" algn="ctr">
              <a:spcBef>
                <a:spcPts val="0"/>
              </a:spcBef>
              <a:spcAft>
                <a:spcPts val="0"/>
              </a:spcAft>
              <a:buSzPts val="15235"/>
              <a:buNone/>
              <a:defRPr sz="15234"/>
            </a:lvl4pPr>
            <a:lvl5pPr lvl="4" algn="ctr">
              <a:spcBef>
                <a:spcPts val="0"/>
              </a:spcBef>
              <a:spcAft>
                <a:spcPts val="0"/>
              </a:spcAft>
              <a:buSzPts val="15235"/>
              <a:buNone/>
              <a:defRPr sz="15234"/>
            </a:lvl5pPr>
            <a:lvl6pPr lvl="5" algn="ctr">
              <a:spcBef>
                <a:spcPts val="0"/>
              </a:spcBef>
              <a:spcAft>
                <a:spcPts val="0"/>
              </a:spcAft>
              <a:buSzPts val="15235"/>
              <a:buNone/>
              <a:defRPr sz="15234"/>
            </a:lvl6pPr>
            <a:lvl7pPr lvl="6" algn="ctr">
              <a:spcBef>
                <a:spcPts val="0"/>
              </a:spcBef>
              <a:spcAft>
                <a:spcPts val="0"/>
              </a:spcAft>
              <a:buSzPts val="15235"/>
              <a:buNone/>
              <a:defRPr sz="15234"/>
            </a:lvl7pPr>
            <a:lvl8pPr lvl="7" algn="ctr">
              <a:spcBef>
                <a:spcPts val="0"/>
              </a:spcBef>
              <a:spcAft>
                <a:spcPts val="0"/>
              </a:spcAft>
              <a:buSzPts val="15235"/>
              <a:buNone/>
              <a:defRPr sz="15234"/>
            </a:lvl8pPr>
            <a:lvl9pPr lvl="8" algn="ctr">
              <a:spcBef>
                <a:spcPts val="0"/>
              </a:spcBef>
              <a:spcAft>
                <a:spcPts val="0"/>
              </a:spcAft>
              <a:buSzPts val="15235"/>
              <a:buNone/>
              <a:defRPr sz="15234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0834747" y="37305734"/>
            <a:ext cx="3292800" cy="3149100"/>
          </a:xfrm>
          <a:prstGeom prst="rect">
            <a:avLst/>
          </a:prstGeom>
        </p:spPr>
        <p:txBody>
          <a:bodyPr anchorCtr="0" anchor="ctr" bIns="386925" lIns="386925" spcFirstLastPara="1" rIns="386925" wrap="square" tIns="386925">
            <a:normAutofit/>
          </a:bodyPr>
          <a:lstStyle>
            <a:lvl1pPr lvl="0">
              <a:buNone/>
              <a:defRPr sz="4231"/>
            </a:lvl1pPr>
            <a:lvl2pPr lvl="1">
              <a:buNone/>
              <a:defRPr sz="4231"/>
            </a:lvl2pPr>
            <a:lvl3pPr lvl="2">
              <a:buNone/>
              <a:defRPr sz="4231"/>
            </a:lvl3pPr>
            <a:lvl4pPr lvl="3">
              <a:buNone/>
              <a:defRPr sz="4231"/>
            </a:lvl4pPr>
            <a:lvl5pPr lvl="4">
              <a:buNone/>
              <a:defRPr sz="4231"/>
            </a:lvl5pPr>
            <a:lvl6pPr lvl="5">
              <a:buNone/>
              <a:defRPr sz="4231"/>
            </a:lvl6pPr>
            <a:lvl7pPr lvl="6">
              <a:buNone/>
              <a:defRPr sz="4231"/>
            </a:lvl7pPr>
            <a:lvl8pPr lvl="7">
              <a:buNone/>
              <a:defRPr sz="4231"/>
            </a:lvl8pPr>
            <a:lvl9pPr lvl="8">
              <a:buNone/>
              <a:defRPr sz="423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870200" y="3560200"/>
            <a:ext cx="51123000" cy="45810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1pPr>
            <a:lvl2pPr lvl="1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2pPr>
            <a:lvl3pPr lvl="2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3pPr>
            <a:lvl4pPr lvl="3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4pPr>
            <a:lvl5pPr lvl="4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5pPr>
            <a:lvl6pPr lvl="5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6pPr>
            <a:lvl7pPr lvl="6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7pPr>
            <a:lvl8pPr lvl="7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8pPr>
            <a:lvl9pPr lvl="8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870200" y="9219800"/>
            <a:ext cx="51123000" cy="273321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/>
          </a:bodyPr>
          <a:lstStyle>
            <a:lvl1pPr indent="-712303" lvl="0" marL="457200">
              <a:spcBef>
                <a:spcPts val="0"/>
              </a:spcBef>
              <a:spcAft>
                <a:spcPts val="0"/>
              </a:spcAft>
              <a:buSzPts val="7617"/>
              <a:buChar char="●"/>
              <a:defRPr sz="7617"/>
            </a:lvl1pPr>
            <a:lvl2pPr indent="-604814" lvl="1" marL="914400">
              <a:spcBef>
                <a:spcPts val="0"/>
              </a:spcBef>
              <a:spcAft>
                <a:spcPts val="0"/>
              </a:spcAft>
              <a:buSzPts val="5925"/>
              <a:buChar char="○"/>
              <a:defRPr sz="5924"/>
            </a:lvl2pPr>
            <a:lvl3pPr indent="-604814" lvl="2" marL="1371600">
              <a:spcBef>
                <a:spcPts val="0"/>
              </a:spcBef>
              <a:spcAft>
                <a:spcPts val="0"/>
              </a:spcAft>
              <a:buSzPts val="5925"/>
              <a:buChar char="■"/>
              <a:defRPr sz="5924"/>
            </a:lvl3pPr>
            <a:lvl4pPr indent="-604814" lvl="3" marL="1828800">
              <a:spcBef>
                <a:spcPts val="0"/>
              </a:spcBef>
              <a:spcAft>
                <a:spcPts val="0"/>
              </a:spcAft>
              <a:buSzPts val="5925"/>
              <a:buChar char="●"/>
              <a:defRPr sz="5924"/>
            </a:lvl4pPr>
            <a:lvl5pPr indent="-604814" lvl="4" marL="2286000">
              <a:spcBef>
                <a:spcPts val="0"/>
              </a:spcBef>
              <a:spcAft>
                <a:spcPts val="0"/>
              </a:spcAft>
              <a:buSzPts val="5925"/>
              <a:buChar char="○"/>
              <a:defRPr sz="5924"/>
            </a:lvl5pPr>
            <a:lvl6pPr indent="-604814" lvl="5" marL="2743200">
              <a:spcBef>
                <a:spcPts val="0"/>
              </a:spcBef>
              <a:spcAft>
                <a:spcPts val="0"/>
              </a:spcAft>
              <a:buSzPts val="5925"/>
              <a:buChar char="■"/>
              <a:defRPr sz="5924"/>
            </a:lvl6pPr>
            <a:lvl7pPr indent="-604814" lvl="6" marL="3200400">
              <a:spcBef>
                <a:spcPts val="0"/>
              </a:spcBef>
              <a:spcAft>
                <a:spcPts val="0"/>
              </a:spcAft>
              <a:buSzPts val="5925"/>
              <a:buChar char="●"/>
              <a:defRPr sz="5924"/>
            </a:lvl7pPr>
            <a:lvl8pPr indent="-604814" lvl="7" marL="3657600">
              <a:spcBef>
                <a:spcPts val="0"/>
              </a:spcBef>
              <a:spcAft>
                <a:spcPts val="0"/>
              </a:spcAft>
              <a:buSzPts val="5925"/>
              <a:buChar char="○"/>
              <a:defRPr sz="5924"/>
            </a:lvl8pPr>
            <a:lvl9pPr indent="-604813" lvl="8" marL="4114800">
              <a:spcBef>
                <a:spcPts val="0"/>
              </a:spcBef>
              <a:spcAft>
                <a:spcPts val="0"/>
              </a:spcAft>
              <a:buSzPts val="5925"/>
              <a:buChar char="■"/>
              <a:defRPr sz="5924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0834747" y="37305734"/>
            <a:ext cx="3292800" cy="3149100"/>
          </a:xfrm>
          <a:prstGeom prst="rect">
            <a:avLst/>
          </a:prstGeom>
        </p:spPr>
        <p:txBody>
          <a:bodyPr anchorCtr="0" anchor="ctr" bIns="386925" lIns="386925" spcFirstLastPara="1" rIns="386925" wrap="square" tIns="386925">
            <a:normAutofit/>
          </a:bodyPr>
          <a:lstStyle>
            <a:lvl1pPr lvl="0">
              <a:buNone/>
              <a:defRPr sz="4231"/>
            </a:lvl1pPr>
            <a:lvl2pPr lvl="1">
              <a:buNone/>
              <a:defRPr sz="4231"/>
            </a:lvl2pPr>
            <a:lvl3pPr lvl="2">
              <a:buNone/>
              <a:defRPr sz="4231"/>
            </a:lvl3pPr>
            <a:lvl4pPr lvl="3">
              <a:buNone/>
              <a:defRPr sz="4231"/>
            </a:lvl4pPr>
            <a:lvl5pPr lvl="4">
              <a:buNone/>
              <a:defRPr sz="4231"/>
            </a:lvl5pPr>
            <a:lvl6pPr lvl="5">
              <a:buNone/>
              <a:defRPr sz="4231"/>
            </a:lvl6pPr>
            <a:lvl7pPr lvl="6">
              <a:buNone/>
              <a:defRPr sz="4231"/>
            </a:lvl7pPr>
            <a:lvl8pPr lvl="7">
              <a:buNone/>
              <a:defRPr sz="4231"/>
            </a:lvl8pPr>
            <a:lvl9pPr lvl="8">
              <a:buNone/>
              <a:defRPr sz="423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870200" y="3560200"/>
            <a:ext cx="51123000" cy="45810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1pPr>
            <a:lvl2pPr lvl="1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2pPr>
            <a:lvl3pPr lvl="2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3pPr>
            <a:lvl4pPr lvl="3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4pPr>
            <a:lvl5pPr lvl="4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5pPr>
            <a:lvl6pPr lvl="5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6pPr>
            <a:lvl7pPr lvl="6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7pPr>
            <a:lvl8pPr lvl="7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8pPr>
            <a:lvl9pPr lvl="8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870200" y="9219800"/>
            <a:ext cx="24000600" cy="273321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/>
          </a:bodyPr>
          <a:lstStyle>
            <a:lvl1pPr indent="-604814" lvl="0" marL="457200">
              <a:spcBef>
                <a:spcPts val="0"/>
              </a:spcBef>
              <a:spcAft>
                <a:spcPts val="0"/>
              </a:spcAft>
              <a:buSzPts val="5925"/>
              <a:buChar char="●"/>
              <a:defRPr sz="5924"/>
            </a:lvl1pPr>
            <a:lvl2pPr indent="-551068" lvl="1" marL="914400">
              <a:spcBef>
                <a:spcPts val="0"/>
              </a:spcBef>
              <a:spcAft>
                <a:spcPts val="0"/>
              </a:spcAft>
              <a:buSzPts val="5078"/>
              <a:buChar char="○"/>
              <a:defRPr sz="5078"/>
            </a:lvl2pPr>
            <a:lvl3pPr indent="-551068" lvl="2" marL="1371600">
              <a:spcBef>
                <a:spcPts val="0"/>
              </a:spcBef>
              <a:spcAft>
                <a:spcPts val="0"/>
              </a:spcAft>
              <a:buSzPts val="5078"/>
              <a:buChar char="■"/>
              <a:defRPr sz="5078"/>
            </a:lvl3pPr>
            <a:lvl4pPr indent="-551068" lvl="3" marL="1828800">
              <a:spcBef>
                <a:spcPts val="0"/>
              </a:spcBef>
              <a:spcAft>
                <a:spcPts val="0"/>
              </a:spcAft>
              <a:buSzPts val="5078"/>
              <a:buChar char="●"/>
              <a:defRPr sz="5078"/>
            </a:lvl4pPr>
            <a:lvl5pPr indent="-551068" lvl="4" marL="2286000">
              <a:spcBef>
                <a:spcPts val="0"/>
              </a:spcBef>
              <a:spcAft>
                <a:spcPts val="0"/>
              </a:spcAft>
              <a:buSzPts val="5078"/>
              <a:buChar char="○"/>
              <a:defRPr sz="5078"/>
            </a:lvl5pPr>
            <a:lvl6pPr indent="-551068" lvl="5" marL="2743200">
              <a:spcBef>
                <a:spcPts val="0"/>
              </a:spcBef>
              <a:spcAft>
                <a:spcPts val="0"/>
              </a:spcAft>
              <a:buSzPts val="5078"/>
              <a:buChar char="■"/>
              <a:defRPr sz="5078"/>
            </a:lvl6pPr>
            <a:lvl7pPr indent="-551068" lvl="6" marL="3200400">
              <a:spcBef>
                <a:spcPts val="0"/>
              </a:spcBef>
              <a:spcAft>
                <a:spcPts val="0"/>
              </a:spcAft>
              <a:buSzPts val="5078"/>
              <a:buChar char="●"/>
              <a:defRPr sz="5078"/>
            </a:lvl7pPr>
            <a:lvl8pPr indent="-551068" lvl="7" marL="3657600">
              <a:spcBef>
                <a:spcPts val="0"/>
              </a:spcBef>
              <a:spcAft>
                <a:spcPts val="0"/>
              </a:spcAft>
              <a:buSzPts val="5078"/>
              <a:buChar char="○"/>
              <a:defRPr sz="5078"/>
            </a:lvl8pPr>
            <a:lvl9pPr indent="-551068" lvl="8" marL="4114800">
              <a:spcBef>
                <a:spcPts val="0"/>
              </a:spcBef>
              <a:spcAft>
                <a:spcPts val="0"/>
              </a:spcAft>
              <a:buSzPts val="5078"/>
              <a:buChar char="■"/>
              <a:defRPr sz="5078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28994400" y="9219800"/>
            <a:ext cx="24000600" cy="273321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/>
          </a:bodyPr>
          <a:lstStyle>
            <a:lvl1pPr indent="-604814" lvl="0" marL="457200">
              <a:spcBef>
                <a:spcPts val="0"/>
              </a:spcBef>
              <a:spcAft>
                <a:spcPts val="0"/>
              </a:spcAft>
              <a:buSzPts val="5925"/>
              <a:buChar char="●"/>
              <a:defRPr sz="5924"/>
            </a:lvl1pPr>
            <a:lvl2pPr indent="-551068" lvl="1" marL="914400">
              <a:spcBef>
                <a:spcPts val="0"/>
              </a:spcBef>
              <a:spcAft>
                <a:spcPts val="0"/>
              </a:spcAft>
              <a:buSzPts val="5078"/>
              <a:buChar char="○"/>
              <a:defRPr sz="5078"/>
            </a:lvl2pPr>
            <a:lvl3pPr indent="-551068" lvl="2" marL="1371600">
              <a:spcBef>
                <a:spcPts val="0"/>
              </a:spcBef>
              <a:spcAft>
                <a:spcPts val="0"/>
              </a:spcAft>
              <a:buSzPts val="5078"/>
              <a:buChar char="■"/>
              <a:defRPr sz="5078"/>
            </a:lvl3pPr>
            <a:lvl4pPr indent="-551068" lvl="3" marL="1828800">
              <a:spcBef>
                <a:spcPts val="0"/>
              </a:spcBef>
              <a:spcAft>
                <a:spcPts val="0"/>
              </a:spcAft>
              <a:buSzPts val="5078"/>
              <a:buChar char="●"/>
              <a:defRPr sz="5078"/>
            </a:lvl4pPr>
            <a:lvl5pPr indent="-551068" lvl="4" marL="2286000">
              <a:spcBef>
                <a:spcPts val="0"/>
              </a:spcBef>
              <a:spcAft>
                <a:spcPts val="0"/>
              </a:spcAft>
              <a:buSzPts val="5078"/>
              <a:buChar char="○"/>
              <a:defRPr sz="5078"/>
            </a:lvl5pPr>
            <a:lvl6pPr indent="-551068" lvl="5" marL="2743200">
              <a:spcBef>
                <a:spcPts val="0"/>
              </a:spcBef>
              <a:spcAft>
                <a:spcPts val="0"/>
              </a:spcAft>
              <a:buSzPts val="5078"/>
              <a:buChar char="■"/>
              <a:defRPr sz="5078"/>
            </a:lvl6pPr>
            <a:lvl7pPr indent="-551068" lvl="6" marL="3200400">
              <a:spcBef>
                <a:spcPts val="0"/>
              </a:spcBef>
              <a:spcAft>
                <a:spcPts val="0"/>
              </a:spcAft>
              <a:buSzPts val="5078"/>
              <a:buChar char="●"/>
              <a:defRPr sz="5078"/>
            </a:lvl7pPr>
            <a:lvl8pPr indent="-551068" lvl="7" marL="3657600">
              <a:spcBef>
                <a:spcPts val="0"/>
              </a:spcBef>
              <a:spcAft>
                <a:spcPts val="0"/>
              </a:spcAft>
              <a:buSzPts val="5078"/>
              <a:buChar char="○"/>
              <a:defRPr sz="5078"/>
            </a:lvl8pPr>
            <a:lvl9pPr indent="-551068" lvl="8" marL="4114800">
              <a:spcBef>
                <a:spcPts val="0"/>
              </a:spcBef>
              <a:spcAft>
                <a:spcPts val="0"/>
              </a:spcAft>
              <a:buSzPts val="5078"/>
              <a:buChar char="■"/>
              <a:defRPr sz="5078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0834747" y="37305734"/>
            <a:ext cx="3292800" cy="3149100"/>
          </a:xfrm>
          <a:prstGeom prst="rect">
            <a:avLst/>
          </a:prstGeom>
        </p:spPr>
        <p:txBody>
          <a:bodyPr anchorCtr="0" anchor="ctr" bIns="386925" lIns="386925" spcFirstLastPara="1" rIns="386925" wrap="square" tIns="386925">
            <a:normAutofit/>
          </a:bodyPr>
          <a:lstStyle>
            <a:lvl1pPr lvl="0">
              <a:buNone/>
              <a:defRPr sz="4231"/>
            </a:lvl1pPr>
            <a:lvl2pPr lvl="1">
              <a:buNone/>
              <a:defRPr sz="4231"/>
            </a:lvl2pPr>
            <a:lvl3pPr lvl="2">
              <a:buNone/>
              <a:defRPr sz="4231"/>
            </a:lvl3pPr>
            <a:lvl4pPr lvl="3">
              <a:buNone/>
              <a:defRPr sz="4231"/>
            </a:lvl4pPr>
            <a:lvl5pPr lvl="4">
              <a:buNone/>
              <a:defRPr sz="4231"/>
            </a:lvl5pPr>
            <a:lvl6pPr lvl="5">
              <a:buNone/>
              <a:defRPr sz="4231"/>
            </a:lvl6pPr>
            <a:lvl7pPr lvl="6">
              <a:buNone/>
              <a:defRPr sz="4231"/>
            </a:lvl7pPr>
            <a:lvl8pPr lvl="7">
              <a:buNone/>
              <a:defRPr sz="4231"/>
            </a:lvl8pPr>
            <a:lvl9pPr lvl="8">
              <a:buNone/>
              <a:defRPr sz="423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870200" y="3560200"/>
            <a:ext cx="51123000" cy="45810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1pPr>
            <a:lvl2pPr lvl="1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2pPr>
            <a:lvl3pPr lvl="2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3pPr>
            <a:lvl4pPr lvl="3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4pPr>
            <a:lvl5pPr lvl="4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5pPr>
            <a:lvl6pPr lvl="5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6pPr>
            <a:lvl7pPr lvl="6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7pPr>
            <a:lvl8pPr lvl="7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8pPr>
            <a:lvl9pPr lvl="8">
              <a:spcBef>
                <a:spcPts val="0"/>
              </a:spcBef>
              <a:spcAft>
                <a:spcPts val="0"/>
              </a:spcAft>
              <a:buSzPts val="11849"/>
              <a:buNone/>
              <a:defRPr sz="11849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0834747" y="37305734"/>
            <a:ext cx="3292800" cy="3149100"/>
          </a:xfrm>
          <a:prstGeom prst="rect">
            <a:avLst/>
          </a:prstGeom>
        </p:spPr>
        <p:txBody>
          <a:bodyPr anchorCtr="0" anchor="ctr" bIns="386925" lIns="386925" spcFirstLastPara="1" rIns="386925" wrap="square" tIns="386925">
            <a:normAutofit/>
          </a:bodyPr>
          <a:lstStyle>
            <a:lvl1pPr lvl="0">
              <a:buNone/>
              <a:defRPr sz="4231"/>
            </a:lvl1pPr>
            <a:lvl2pPr lvl="1">
              <a:buNone/>
              <a:defRPr sz="4231"/>
            </a:lvl2pPr>
            <a:lvl3pPr lvl="2">
              <a:buNone/>
              <a:defRPr sz="4231"/>
            </a:lvl3pPr>
            <a:lvl4pPr lvl="3">
              <a:buNone/>
              <a:defRPr sz="4231"/>
            </a:lvl4pPr>
            <a:lvl5pPr lvl="4">
              <a:buNone/>
              <a:defRPr sz="4231"/>
            </a:lvl5pPr>
            <a:lvl6pPr lvl="5">
              <a:buNone/>
              <a:defRPr sz="4231"/>
            </a:lvl6pPr>
            <a:lvl7pPr lvl="6">
              <a:buNone/>
              <a:defRPr sz="4231"/>
            </a:lvl7pPr>
            <a:lvl8pPr lvl="7">
              <a:buNone/>
              <a:defRPr sz="4231"/>
            </a:lvl8pPr>
            <a:lvl9pPr lvl="8">
              <a:buNone/>
              <a:defRPr sz="423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870200" y="4444800"/>
            <a:ext cx="16848000" cy="6047100"/>
          </a:xfrm>
          <a:prstGeom prst="rect">
            <a:avLst/>
          </a:prstGeom>
        </p:spPr>
        <p:txBody>
          <a:bodyPr anchorCtr="0" anchor="b" bIns="386925" lIns="386925" spcFirstLastPara="1" rIns="386925" wrap="square" tIns="38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157"/>
              <a:buNone/>
              <a:defRPr sz="10156"/>
            </a:lvl1pPr>
            <a:lvl2pPr lvl="1">
              <a:spcBef>
                <a:spcPts val="0"/>
              </a:spcBef>
              <a:spcAft>
                <a:spcPts val="0"/>
              </a:spcAft>
              <a:buSzPts val="10157"/>
              <a:buNone/>
              <a:defRPr sz="10156"/>
            </a:lvl2pPr>
            <a:lvl3pPr lvl="2">
              <a:spcBef>
                <a:spcPts val="0"/>
              </a:spcBef>
              <a:spcAft>
                <a:spcPts val="0"/>
              </a:spcAft>
              <a:buSzPts val="10157"/>
              <a:buNone/>
              <a:defRPr sz="10156"/>
            </a:lvl3pPr>
            <a:lvl4pPr lvl="3">
              <a:spcBef>
                <a:spcPts val="0"/>
              </a:spcBef>
              <a:spcAft>
                <a:spcPts val="0"/>
              </a:spcAft>
              <a:buSzPts val="10157"/>
              <a:buNone/>
              <a:defRPr sz="10156"/>
            </a:lvl4pPr>
            <a:lvl5pPr lvl="4">
              <a:spcBef>
                <a:spcPts val="0"/>
              </a:spcBef>
              <a:spcAft>
                <a:spcPts val="0"/>
              </a:spcAft>
              <a:buSzPts val="10157"/>
              <a:buNone/>
              <a:defRPr sz="10156"/>
            </a:lvl5pPr>
            <a:lvl6pPr lvl="5">
              <a:spcBef>
                <a:spcPts val="0"/>
              </a:spcBef>
              <a:spcAft>
                <a:spcPts val="0"/>
              </a:spcAft>
              <a:buSzPts val="10157"/>
              <a:buNone/>
              <a:defRPr sz="10156"/>
            </a:lvl6pPr>
            <a:lvl7pPr lvl="6">
              <a:spcBef>
                <a:spcPts val="0"/>
              </a:spcBef>
              <a:spcAft>
                <a:spcPts val="0"/>
              </a:spcAft>
              <a:buSzPts val="10157"/>
              <a:buNone/>
              <a:defRPr sz="10156"/>
            </a:lvl7pPr>
            <a:lvl8pPr lvl="7">
              <a:spcBef>
                <a:spcPts val="0"/>
              </a:spcBef>
              <a:spcAft>
                <a:spcPts val="0"/>
              </a:spcAft>
              <a:buSzPts val="10157"/>
              <a:buNone/>
              <a:defRPr sz="10156"/>
            </a:lvl8pPr>
            <a:lvl9pPr lvl="8">
              <a:spcBef>
                <a:spcPts val="0"/>
              </a:spcBef>
              <a:spcAft>
                <a:spcPts val="0"/>
              </a:spcAft>
              <a:buSzPts val="10157"/>
              <a:buNone/>
              <a:defRPr sz="10156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870200" y="11116800"/>
            <a:ext cx="16848000" cy="254349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/>
          </a:bodyPr>
          <a:lstStyle>
            <a:lvl1pPr indent="-551068" lvl="0" marL="457200">
              <a:spcBef>
                <a:spcPts val="0"/>
              </a:spcBef>
              <a:spcAft>
                <a:spcPts val="0"/>
              </a:spcAft>
              <a:buSzPts val="5078"/>
              <a:buChar char="●"/>
              <a:defRPr sz="5078"/>
            </a:lvl1pPr>
            <a:lvl2pPr indent="-551068" lvl="1" marL="914400">
              <a:spcBef>
                <a:spcPts val="0"/>
              </a:spcBef>
              <a:spcAft>
                <a:spcPts val="0"/>
              </a:spcAft>
              <a:buSzPts val="5078"/>
              <a:buChar char="○"/>
              <a:defRPr sz="5078"/>
            </a:lvl2pPr>
            <a:lvl3pPr indent="-551068" lvl="2" marL="1371600">
              <a:spcBef>
                <a:spcPts val="0"/>
              </a:spcBef>
              <a:spcAft>
                <a:spcPts val="0"/>
              </a:spcAft>
              <a:buSzPts val="5078"/>
              <a:buChar char="■"/>
              <a:defRPr sz="5078"/>
            </a:lvl3pPr>
            <a:lvl4pPr indent="-551068" lvl="3" marL="1828800">
              <a:spcBef>
                <a:spcPts val="0"/>
              </a:spcBef>
              <a:spcAft>
                <a:spcPts val="0"/>
              </a:spcAft>
              <a:buSzPts val="5078"/>
              <a:buChar char="●"/>
              <a:defRPr sz="5078"/>
            </a:lvl4pPr>
            <a:lvl5pPr indent="-551068" lvl="4" marL="2286000">
              <a:spcBef>
                <a:spcPts val="0"/>
              </a:spcBef>
              <a:spcAft>
                <a:spcPts val="0"/>
              </a:spcAft>
              <a:buSzPts val="5078"/>
              <a:buChar char="○"/>
              <a:defRPr sz="5078"/>
            </a:lvl5pPr>
            <a:lvl6pPr indent="-551068" lvl="5" marL="2743200">
              <a:spcBef>
                <a:spcPts val="0"/>
              </a:spcBef>
              <a:spcAft>
                <a:spcPts val="0"/>
              </a:spcAft>
              <a:buSzPts val="5078"/>
              <a:buChar char="■"/>
              <a:defRPr sz="5078"/>
            </a:lvl6pPr>
            <a:lvl7pPr indent="-551068" lvl="6" marL="3200400">
              <a:spcBef>
                <a:spcPts val="0"/>
              </a:spcBef>
              <a:spcAft>
                <a:spcPts val="0"/>
              </a:spcAft>
              <a:buSzPts val="5078"/>
              <a:buChar char="●"/>
              <a:defRPr sz="5078"/>
            </a:lvl7pPr>
            <a:lvl8pPr indent="-551068" lvl="7" marL="3657600">
              <a:spcBef>
                <a:spcPts val="0"/>
              </a:spcBef>
              <a:spcAft>
                <a:spcPts val="0"/>
              </a:spcAft>
              <a:buSzPts val="5078"/>
              <a:buChar char="○"/>
              <a:defRPr sz="5078"/>
            </a:lvl8pPr>
            <a:lvl9pPr indent="-551068" lvl="8" marL="4114800">
              <a:spcBef>
                <a:spcPts val="0"/>
              </a:spcBef>
              <a:spcAft>
                <a:spcPts val="0"/>
              </a:spcAft>
              <a:buSzPts val="5078"/>
              <a:buChar char="■"/>
              <a:defRPr sz="5078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0834747" y="37305734"/>
            <a:ext cx="3292800" cy="3149100"/>
          </a:xfrm>
          <a:prstGeom prst="rect">
            <a:avLst/>
          </a:prstGeom>
        </p:spPr>
        <p:txBody>
          <a:bodyPr anchorCtr="0" anchor="ctr" bIns="386925" lIns="386925" spcFirstLastPara="1" rIns="386925" wrap="square" tIns="386925">
            <a:normAutofit/>
          </a:bodyPr>
          <a:lstStyle>
            <a:lvl1pPr lvl="0">
              <a:buNone/>
              <a:defRPr sz="4231"/>
            </a:lvl1pPr>
            <a:lvl2pPr lvl="1">
              <a:buNone/>
              <a:defRPr sz="4231"/>
            </a:lvl2pPr>
            <a:lvl3pPr lvl="2">
              <a:buNone/>
              <a:defRPr sz="4231"/>
            </a:lvl3pPr>
            <a:lvl4pPr lvl="3">
              <a:buNone/>
              <a:defRPr sz="4231"/>
            </a:lvl4pPr>
            <a:lvl5pPr lvl="4">
              <a:buNone/>
              <a:defRPr sz="4231"/>
            </a:lvl5pPr>
            <a:lvl6pPr lvl="5">
              <a:buNone/>
              <a:defRPr sz="4231"/>
            </a:lvl6pPr>
            <a:lvl7pPr lvl="6">
              <a:buNone/>
              <a:defRPr sz="4231"/>
            </a:lvl7pPr>
            <a:lvl8pPr lvl="7">
              <a:buNone/>
              <a:defRPr sz="4231"/>
            </a:lvl8pPr>
            <a:lvl9pPr lvl="8">
              <a:buNone/>
              <a:defRPr sz="423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941500" y="3601200"/>
            <a:ext cx="38206800" cy="32724900"/>
          </a:xfrm>
          <a:prstGeom prst="rect">
            <a:avLst/>
          </a:prstGeom>
        </p:spPr>
        <p:txBody>
          <a:bodyPr anchorCtr="0" anchor="ctr" bIns="386925" lIns="386925" spcFirstLastPara="1" rIns="386925" wrap="square" tIns="38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313"/>
              <a:buNone/>
              <a:defRPr sz="20313"/>
            </a:lvl1pPr>
            <a:lvl2pPr lvl="1">
              <a:spcBef>
                <a:spcPts val="0"/>
              </a:spcBef>
              <a:spcAft>
                <a:spcPts val="0"/>
              </a:spcAft>
              <a:buSzPts val="20313"/>
              <a:buNone/>
              <a:defRPr sz="20313"/>
            </a:lvl2pPr>
            <a:lvl3pPr lvl="2">
              <a:spcBef>
                <a:spcPts val="0"/>
              </a:spcBef>
              <a:spcAft>
                <a:spcPts val="0"/>
              </a:spcAft>
              <a:buSzPts val="20313"/>
              <a:buNone/>
              <a:defRPr sz="20313"/>
            </a:lvl3pPr>
            <a:lvl4pPr lvl="3">
              <a:spcBef>
                <a:spcPts val="0"/>
              </a:spcBef>
              <a:spcAft>
                <a:spcPts val="0"/>
              </a:spcAft>
              <a:buSzPts val="20313"/>
              <a:buNone/>
              <a:defRPr sz="20313"/>
            </a:lvl4pPr>
            <a:lvl5pPr lvl="4">
              <a:spcBef>
                <a:spcPts val="0"/>
              </a:spcBef>
              <a:spcAft>
                <a:spcPts val="0"/>
              </a:spcAft>
              <a:buSzPts val="20313"/>
              <a:buNone/>
              <a:defRPr sz="20313"/>
            </a:lvl5pPr>
            <a:lvl6pPr lvl="5">
              <a:spcBef>
                <a:spcPts val="0"/>
              </a:spcBef>
              <a:spcAft>
                <a:spcPts val="0"/>
              </a:spcAft>
              <a:buSzPts val="20313"/>
              <a:buNone/>
              <a:defRPr sz="20313"/>
            </a:lvl6pPr>
            <a:lvl7pPr lvl="6">
              <a:spcBef>
                <a:spcPts val="0"/>
              </a:spcBef>
              <a:spcAft>
                <a:spcPts val="0"/>
              </a:spcAft>
              <a:buSzPts val="20313"/>
              <a:buNone/>
              <a:defRPr sz="20313"/>
            </a:lvl7pPr>
            <a:lvl8pPr lvl="7">
              <a:spcBef>
                <a:spcPts val="0"/>
              </a:spcBef>
              <a:spcAft>
                <a:spcPts val="0"/>
              </a:spcAft>
              <a:buSzPts val="20313"/>
              <a:buNone/>
              <a:defRPr sz="20313"/>
            </a:lvl8pPr>
            <a:lvl9pPr lvl="8">
              <a:spcBef>
                <a:spcPts val="0"/>
              </a:spcBef>
              <a:spcAft>
                <a:spcPts val="0"/>
              </a:spcAft>
              <a:buSzPts val="20313"/>
              <a:buNone/>
              <a:defRPr sz="20313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0834747" y="37305734"/>
            <a:ext cx="3292800" cy="3149100"/>
          </a:xfrm>
          <a:prstGeom prst="rect">
            <a:avLst/>
          </a:prstGeom>
        </p:spPr>
        <p:txBody>
          <a:bodyPr anchorCtr="0" anchor="ctr" bIns="386925" lIns="386925" spcFirstLastPara="1" rIns="386925" wrap="square" tIns="386925">
            <a:normAutofit/>
          </a:bodyPr>
          <a:lstStyle>
            <a:lvl1pPr lvl="0">
              <a:buNone/>
              <a:defRPr sz="4231"/>
            </a:lvl1pPr>
            <a:lvl2pPr lvl="1">
              <a:buNone/>
              <a:defRPr sz="4231"/>
            </a:lvl2pPr>
            <a:lvl3pPr lvl="2">
              <a:buNone/>
              <a:defRPr sz="4231"/>
            </a:lvl3pPr>
            <a:lvl4pPr lvl="3">
              <a:buNone/>
              <a:defRPr sz="4231"/>
            </a:lvl4pPr>
            <a:lvl5pPr lvl="4">
              <a:buNone/>
              <a:defRPr sz="4231"/>
            </a:lvl5pPr>
            <a:lvl6pPr lvl="5">
              <a:buNone/>
              <a:defRPr sz="4231"/>
            </a:lvl6pPr>
            <a:lvl7pPr lvl="6">
              <a:buNone/>
              <a:defRPr sz="4231"/>
            </a:lvl7pPr>
            <a:lvl8pPr lvl="7">
              <a:buNone/>
              <a:defRPr sz="4231"/>
            </a:lvl8pPr>
            <a:lvl9pPr lvl="8">
              <a:buNone/>
              <a:defRPr sz="423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7432000" y="-1000"/>
            <a:ext cx="27432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86925" lIns="386925" spcFirstLastPara="1" rIns="386925" wrap="square" tIns="38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593000" y="9865400"/>
            <a:ext cx="24271200" cy="11858400"/>
          </a:xfrm>
          <a:prstGeom prst="rect">
            <a:avLst/>
          </a:prstGeom>
        </p:spPr>
        <p:txBody>
          <a:bodyPr anchorCtr="0" anchor="b" bIns="386925" lIns="386925" spcFirstLastPara="1" rIns="386925" wrap="square" tIns="38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774"/>
              <a:buNone/>
              <a:defRPr sz="17773"/>
            </a:lvl1pPr>
            <a:lvl2pPr lvl="1" algn="ctr">
              <a:spcBef>
                <a:spcPts val="0"/>
              </a:spcBef>
              <a:spcAft>
                <a:spcPts val="0"/>
              </a:spcAft>
              <a:buSzPts val="17774"/>
              <a:buNone/>
              <a:defRPr sz="17773"/>
            </a:lvl2pPr>
            <a:lvl3pPr lvl="2" algn="ctr">
              <a:spcBef>
                <a:spcPts val="0"/>
              </a:spcBef>
              <a:spcAft>
                <a:spcPts val="0"/>
              </a:spcAft>
              <a:buSzPts val="17774"/>
              <a:buNone/>
              <a:defRPr sz="17773"/>
            </a:lvl3pPr>
            <a:lvl4pPr lvl="3" algn="ctr">
              <a:spcBef>
                <a:spcPts val="0"/>
              </a:spcBef>
              <a:spcAft>
                <a:spcPts val="0"/>
              </a:spcAft>
              <a:buSzPts val="17774"/>
              <a:buNone/>
              <a:defRPr sz="17773"/>
            </a:lvl4pPr>
            <a:lvl5pPr lvl="4" algn="ctr">
              <a:spcBef>
                <a:spcPts val="0"/>
              </a:spcBef>
              <a:spcAft>
                <a:spcPts val="0"/>
              </a:spcAft>
              <a:buSzPts val="17774"/>
              <a:buNone/>
              <a:defRPr sz="17773"/>
            </a:lvl5pPr>
            <a:lvl6pPr lvl="5" algn="ctr">
              <a:spcBef>
                <a:spcPts val="0"/>
              </a:spcBef>
              <a:spcAft>
                <a:spcPts val="0"/>
              </a:spcAft>
              <a:buSzPts val="17774"/>
              <a:buNone/>
              <a:defRPr sz="17773"/>
            </a:lvl6pPr>
            <a:lvl7pPr lvl="6" algn="ctr">
              <a:spcBef>
                <a:spcPts val="0"/>
              </a:spcBef>
              <a:spcAft>
                <a:spcPts val="0"/>
              </a:spcAft>
              <a:buSzPts val="17774"/>
              <a:buNone/>
              <a:defRPr sz="17773"/>
            </a:lvl7pPr>
            <a:lvl8pPr lvl="7" algn="ctr">
              <a:spcBef>
                <a:spcPts val="0"/>
              </a:spcBef>
              <a:spcAft>
                <a:spcPts val="0"/>
              </a:spcAft>
              <a:buSzPts val="17774"/>
              <a:buNone/>
              <a:defRPr sz="17773"/>
            </a:lvl8pPr>
            <a:lvl9pPr lvl="8" algn="ctr">
              <a:spcBef>
                <a:spcPts val="0"/>
              </a:spcBef>
              <a:spcAft>
                <a:spcPts val="0"/>
              </a:spcAft>
              <a:buSzPts val="17774"/>
              <a:buNone/>
              <a:defRPr sz="17773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593000" y="22424600"/>
            <a:ext cx="24271200" cy="98811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87"/>
              <a:buNone/>
              <a:defRPr sz="888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87"/>
              <a:buNone/>
              <a:defRPr sz="888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87"/>
              <a:buNone/>
              <a:defRPr sz="888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87"/>
              <a:buNone/>
              <a:defRPr sz="888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87"/>
              <a:buNone/>
              <a:defRPr sz="888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87"/>
              <a:buNone/>
              <a:defRPr sz="888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87"/>
              <a:buNone/>
              <a:defRPr sz="888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87"/>
              <a:buNone/>
              <a:defRPr sz="888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87"/>
              <a:buNone/>
              <a:defRPr sz="8886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29637000" y="5792600"/>
            <a:ext cx="23022000" cy="29561400"/>
          </a:xfrm>
          <a:prstGeom prst="rect">
            <a:avLst/>
          </a:prstGeom>
        </p:spPr>
        <p:txBody>
          <a:bodyPr anchorCtr="0" anchor="ctr" bIns="386925" lIns="386925" spcFirstLastPara="1" rIns="386925" wrap="square" tIns="386925">
            <a:normAutofit/>
          </a:bodyPr>
          <a:lstStyle>
            <a:lvl1pPr indent="-712303" lvl="0" marL="457200">
              <a:spcBef>
                <a:spcPts val="0"/>
              </a:spcBef>
              <a:spcAft>
                <a:spcPts val="0"/>
              </a:spcAft>
              <a:buSzPts val="7617"/>
              <a:buChar char="●"/>
              <a:defRPr sz="7617"/>
            </a:lvl1pPr>
            <a:lvl2pPr indent="-604814" lvl="1" marL="914400">
              <a:spcBef>
                <a:spcPts val="0"/>
              </a:spcBef>
              <a:spcAft>
                <a:spcPts val="0"/>
              </a:spcAft>
              <a:buSzPts val="5925"/>
              <a:buChar char="○"/>
              <a:defRPr sz="5924"/>
            </a:lvl2pPr>
            <a:lvl3pPr indent="-604814" lvl="2" marL="1371600">
              <a:spcBef>
                <a:spcPts val="0"/>
              </a:spcBef>
              <a:spcAft>
                <a:spcPts val="0"/>
              </a:spcAft>
              <a:buSzPts val="5925"/>
              <a:buChar char="■"/>
              <a:defRPr sz="5924"/>
            </a:lvl3pPr>
            <a:lvl4pPr indent="-604814" lvl="3" marL="1828800">
              <a:spcBef>
                <a:spcPts val="0"/>
              </a:spcBef>
              <a:spcAft>
                <a:spcPts val="0"/>
              </a:spcAft>
              <a:buSzPts val="5925"/>
              <a:buChar char="●"/>
              <a:defRPr sz="5924"/>
            </a:lvl4pPr>
            <a:lvl5pPr indent="-604814" lvl="4" marL="2286000">
              <a:spcBef>
                <a:spcPts val="0"/>
              </a:spcBef>
              <a:spcAft>
                <a:spcPts val="0"/>
              </a:spcAft>
              <a:buSzPts val="5925"/>
              <a:buChar char="○"/>
              <a:defRPr sz="5924"/>
            </a:lvl5pPr>
            <a:lvl6pPr indent="-604814" lvl="5" marL="2743200">
              <a:spcBef>
                <a:spcPts val="0"/>
              </a:spcBef>
              <a:spcAft>
                <a:spcPts val="0"/>
              </a:spcAft>
              <a:buSzPts val="5925"/>
              <a:buChar char="■"/>
              <a:defRPr sz="5924"/>
            </a:lvl6pPr>
            <a:lvl7pPr indent="-604814" lvl="6" marL="3200400">
              <a:spcBef>
                <a:spcPts val="0"/>
              </a:spcBef>
              <a:spcAft>
                <a:spcPts val="0"/>
              </a:spcAft>
              <a:buSzPts val="5925"/>
              <a:buChar char="●"/>
              <a:defRPr sz="5924"/>
            </a:lvl7pPr>
            <a:lvl8pPr indent="-604814" lvl="7" marL="3657600">
              <a:spcBef>
                <a:spcPts val="0"/>
              </a:spcBef>
              <a:spcAft>
                <a:spcPts val="0"/>
              </a:spcAft>
              <a:buSzPts val="5925"/>
              <a:buChar char="○"/>
              <a:defRPr sz="5924"/>
            </a:lvl8pPr>
            <a:lvl9pPr indent="-604813" lvl="8" marL="4114800">
              <a:spcBef>
                <a:spcPts val="0"/>
              </a:spcBef>
              <a:spcAft>
                <a:spcPts val="0"/>
              </a:spcAft>
              <a:buSzPts val="5925"/>
              <a:buChar char="■"/>
              <a:defRPr sz="5924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0834747" y="37305734"/>
            <a:ext cx="3292800" cy="3149100"/>
          </a:xfrm>
          <a:prstGeom prst="rect">
            <a:avLst/>
          </a:prstGeom>
        </p:spPr>
        <p:txBody>
          <a:bodyPr anchorCtr="0" anchor="ctr" bIns="386925" lIns="386925" spcFirstLastPara="1" rIns="386925" wrap="square" tIns="386925">
            <a:normAutofit/>
          </a:bodyPr>
          <a:lstStyle>
            <a:lvl1pPr lvl="0">
              <a:buNone/>
              <a:defRPr sz="4231"/>
            </a:lvl1pPr>
            <a:lvl2pPr lvl="1">
              <a:buNone/>
              <a:defRPr sz="4231"/>
            </a:lvl2pPr>
            <a:lvl3pPr lvl="2">
              <a:buNone/>
              <a:defRPr sz="4231"/>
            </a:lvl3pPr>
            <a:lvl4pPr lvl="3">
              <a:buNone/>
              <a:defRPr sz="4231"/>
            </a:lvl4pPr>
            <a:lvl5pPr lvl="4">
              <a:buNone/>
              <a:defRPr sz="4231"/>
            </a:lvl5pPr>
            <a:lvl6pPr lvl="5">
              <a:buNone/>
              <a:defRPr sz="4231"/>
            </a:lvl6pPr>
            <a:lvl7pPr lvl="6">
              <a:buNone/>
              <a:defRPr sz="4231"/>
            </a:lvl7pPr>
            <a:lvl8pPr lvl="7">
              <a:buNone/>
              <a:defRPr sz="4231"/>
            </a:lvl8pPr>
            <a:lvl9pPr lvl="8">
              <a:buNone/>
              <a:defRPr sz="423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870200" y="33844600"/>
            <a:ext cx="35992800" cy="4841100"/>
          </a:xfrm>
          <a:prstGeom prst="rect">
            <a:avLst/>
          </a:prstGeom>
        </p:spPr>
        <p:txBody>
          <a:bodyPr anchorCtr="0" anchor="ctr" bIns="386925" lIns="386925" spcFirstLastPara="1" rIns="386925" wrap="square" tIns="3869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17"/>
              <a:buNone/>
              <a:defRPr sz="7617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0834747" y="37305734"/>
            <a:ext cx="3292800" cy="3149100"/>
          </a:xfrm>
          <a:prstGeom prst="rect">
            <a:avLst/>
          </a:prstGeom>
        </p:spPr>
        <p:txBody>
          <a:bodyPr anchorCtr="0" anchor="ctr" bIns="386925" lIns="386925" spcFirstLastPara="1" rIns="386925" wrap="square" tIns="386925">
            <a:normAutofit/>
          </a:bodyPr>
          <a:lstStyle>
            <a:lvl1pPr lvl="0">
              <a:buNone/>
              <a:defRPr sz="4231"/>
            </a:lvl1pPr>
            <a:lvl2pPr lvl="1">
              <a:buNone/>
              <a:defRPr sz="4231"/>
            </a:lvl2pPr>
            <a:lvl3pPr lvl="2">
              <a:buNone/>
              <a:defRPr sz="4231"/>
            </a:lvl3pPr>
            <a:lvl4pPr lvl="3">
              <a:buNone/>
              <a:defRPr sz="4231"/>
            </a:lvl4pPr>
            <a:lvl5pPr lvl="4">
              <a:buNone/>
              <a:defRPr sz="4231"/>
            </a:lvl5pPr>
            <a:lvl6pPr lvl="5">
              <a:buNone/>
              <a:defRPr sz="4231"/>
            </a:lvl6pPr>
            <a:lvl7pPr lvl="6">
              <a:buNone/>
              <a:defRPr sz="4231"/>
            </a:lvl7pPr>
            <a:lvl8pPr lvl="7">
              <a:buNone/>
              <a:defRPr sz="4231"/>
            </a:lvl8pPr>
            <a:lvl9pPr lvl="8">
              <a:buNone/>
              <a:defRPr sz="423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870200" y="8849000"/>
            <a:ext cx="51123000" cy="15708600"/>
          </a:xfrm>
          <a:prstGeom prst="rect">
            <a:avLst/>
          </a:prstGeom>
        </p:spPr>
        <p:txBody>
          <a:bodyPr anchorCtr="0" anchor="b" bIns="386925" lIns="386925" spcFirstLastPara="1" rIns="386925" wrap="square" tIns="38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783"/>
              <a:buNone/>
              <a:defRPr sz="50782"/>
            </a:lvl1pPr>
            <a:lvl2pPr lvl="1" algn="ctr">
              <a:spcBef>
                <a:spcPts val="0"/>
              </a:spcBef>
              <a:spcAft>
                <a:spcPts val="0"/>
              </a:spcAft>
              <a:buSzPts val="50783"/>
              <a:buNone/>
              <a:defRPr sz="50782"/>
            </a:lvl2pPr>
            <a:lvl3pPr lvl="2" algn="ctr">
              <a:spcBef>
                <a:spcPts val="0"/>
              </a:spcBef>
              <a:spcAft>
                <a:spcPts val="0"/>
              </a:spcAft>
              <a:buSzPts val="50783"/>
              <a:buNone/>
              <a:defRPr sz="50782"/>
            </a:lvl3pPr>
            <a:lvl4pPr lvl="3" algn="ctr">
              <a:spcBef>
                <a:spcPts val="0"/>
              </a:spcBef>
              <a:spcAft>
                <a:spcPts val="0"/>
              </a:spcAft>
              <a:buSzPts val="50783"/>
              <a:buNone/>
              <a:defRPr sz="50782"/>
            </a:lvl4pPr>
            <a:lvl5pPr lvl="4" algn="ctr">
              <a:spcBef>
                <a:spcPts val="0"/>
              </a:spcBef>
              <a:spcAft>
                <a:spcPts val="0"/>
              </a:spcAft>
              <a:buSzPts val="50783"/>
              <a:buNone/>
              <a:defRPr sz="50782"/>
            </a:lvl5pPr>
            <a:lvl6pPr lvl="5" algn="ctr">
              <a:spcBef>
                <a:spcPts val="0"/>
              </a:spcBef>
              <a:spcAft>
                <a:spcPts val="0"/>
              </a:spcAft>
              <a:buSzPts val="50783"/>
              <a:buNone/>
              <a:defRPr sz="50782"/>
            </a:lvl6pPr>
            <a:lvl7pPr lvl="6" algn="ctr">
              <a:spcBef>
                <a:spcPts val="0"/>
              </a:spcBef>
              <a:spcAft>
                <a:spcPts val="0"/>
              </a:spcAft>
              <a:buSzPts val="50783"/>
              <a:buNone/>
              <a:defRPr sz="50782"/>
            </a:lvl7pPr>
            <a:lvl8pPr lvl="7" algn="ctr">
              <a:spcBef>
                <a:spcPts val="0"/>
              </a:spcBef>
              <a:spcAft>
                <a:spcPts val="0"/>
              </a:spcAft>
              <a:buSzPts val="50783"/>
              <a:buNone/>
              <a:defRPr sz="50782"/>
            </a:lvl8pPr>
            <a:lvl9pPr lvl="8" algn="ctr">
              <a:spcBef>
                <a:spcPts val="0"/>
              </a:spcBef>
              <a:spcAft>
                <a:spcPts val="0"/>
              </a:spcAft>
              <a:buSzPts val="50783"/>
              <a:buNone/>
              <a:defRPr sz="5078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870200" y="25217800"/>
            <a:ext cx="51123000" cy="104049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/>
          </a:bodyPr>
          <a:lstStyle>
            <a:lvl1pPr indent="-712303" lvl="0" marL="457200" algn="ctr">
              <a:spcBef>
                <a:spcPts val="0"/>
              </a:spcBef>
              <a:spcAft>
                <a:spcPts val="0"/>
              </a:spcAft>
              <a:buSzPts val="7617"/>
              <a:buChar char="●"/>
              <a:defRPr sz="7617"/>
            </a:lvl1pPr>
            <a:lvl2pPr indent="-604814" lvl="1" marL="914400" algn="ctr">
              <a:spcBef>
                <a:spcPts val="0"/>
              </a:spcBef>
              <a:spcAft>
                <a:spcPts val="0"/>
              </a:spcAft>
              <a:buSzPts val="5925"/>
              <a:buChar char="○"/>
              <a:defRPr sz="5924"/>
            </a:lvl2pPr>
            <a:lvl3pPr indent="-604814" lvl="2" marL="1371600" algn="ctr">
              <a:spcBef>
                <a:spcPts val="0"/>
              </a:spcBef>
              <a:spcAft>
                <a:spcPts val="0"/>
              </a:spcAft>
              <a:buSzPts val="5925"/>
              <a:buChar char="■"/>
              <a:defRPr sz="5924"/>
            </a:lvl3pPr>
            <a:lvl4pPr indent="-604814" lvl="3" marL="1828800" algn="ctr">
              <a:spcBef>
                <a:spcPts val="0"/>
              </a:spcBef>
              <a:spcAft>
                <a:spcPts val="0"/>
              </a:spcAft>
              <a:buSzPts val="5925"/>
              <a:buChar char="●"/>
              <a:defRPr sz="5924"/>
            </a:lvl4pPr>
            <a:lvl5pPr indent="-604814" lvl="4" marL="2286000" algn="ctr">
              <a:spcBef>
                <a:spcPts val="0"/>
              </a:spcBef>
              <a:spcAft>
                <a:spcPts val="0"/>
              </a:spcAft>
              <a:buSzPts val="5925"/>
              <a:buChar char="○"/>
              <a:defRPr sz="5924"/>
            </a:lvl5pPr>
            <a:lvl6pPr indent="-604814" lvl="5" marL="2743200" algn="ctr">
              <a:spcBef>
                <a:spcPts val="0"/>
              </a:spcBef>
              <a:spcAft>
                <a:spcPts val="0"/>
              </a:spcAft>
              <a:buSzPts val="5925"/>
              <a:buChar char="■"/>
              <a:defRPr sz="5924"/>
            </a:lvl6pPr>
            <a:lvl7pPr indent="-604814" lvl="6" marL="3200400" algn="ctr">
              <a:spcBef>
                <a:spcPts val="0"/>
              </a:spcBef>
              <a:spcAft>
                <a:spcPts val="0"/>
              </a:spcAft>
              <a:buSzPts val="5925"/>
              <a:buChar char="●"/>
              <a:defRPr sz="5924"/>
            </a:lvl7pPr>
            <a:lvl8pPr indent="-604814" lvl="7" marL="3657600" algn="ctr">
              <a:spcBef>
                <a:spcPts val="0"/>
              </a:spcBef>
              <a:spcAft>
                <a:spcPts val="0"/>
              </a:spcAft>
              <a:buSzPts val="5925"/>
              <a:buChar char="○"/>
              <a:defRPr sz="5924"/>
            </a:lvl8pPr>
            <a:lvl9pPr indent="-604813" lvl="8" marL="4114800" algn="ctr">
              <a:spcBef>
                <a:spcPts val="0"/>
              </a:spcBef>
              <a:spcAft>
                <a:spcPts val="0"/>
              </a:spcAft>
              <a:buSzPts val="5925"/>
              <a:buChar char="■"/>
              <a:defRPr sz="5924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0834747" y="37305734"/>
            <a:ext cx="3292800" cy="3149100"/>
          </a:xfrm>
          <a:prstGeom prst="rect">
            <a:avLst/>
          </a:prstGeom>
        </p:spPr>
        <p:txBody>
          <a:bodyPr anchorCtr="0" anchor="ctr" bIns="386925" lIns="386925" spcFirstLastPara="1" rIns="386925" wrap="square" tIns="386925">
            <a:normAutofit/>
          </a:bodyPr>
          <a:lstStyle>
            <a:lvl1pPr lvl="0">
              <a:buNone/>
              <a:defRPr sz="4231"/>
            </a:lvl1pPr>
            <a:lvl2pPr lvl="1">
              <a:buNone/>
              <a:defRPr sz="4231"/>
            </a:lvl2pPr>
            <a:lvl3pPr lvl="2">
              <a:buNone/>
              <a:defRPr sz="4231"/>
            </a:lvl3pPr>
            <a:lvl4pPr lvl="3">
              <a:buNone/>
              <a:defRPr sz="4231"/>
            </a:lvl4pPr>
            <a:lvl5pPr lvl="4">
              <a:buNone/>
              <a:defRPr sz="4231"/>
            </a:lvl5pPr>
            <a:lvl6pPr lvl="5">
              <a:buNone/>
              <a:defRPr sz="4231"/>
            </a:lvl6pPr>
            <a:lvl7pPr lvl="6">
              <a:buNone/>
              <a:defRPr sz="4231"/>
            </a:lvl7pPr>
            <a:lvl8pPr lvl="7">
              <a:buNone/>
              <a:defRPr sz="4231"/>
            </a:lvl8pPr>
            <a:lvl9pPr lvl="8">
              <a:buNone/>
              <a:defRPr sz="423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0834747" y="37305734"/>
            <a:ext cx="3292800" cy="3149100"/>
          </a:xfrm>
          <a:prstGeom prst="rect">
            <a:avLst/>
          </a:prstGeom>
        </p:spPr>
        <p:txBody>
          <a:bodyPr anchorCtr="0" anchor="ctr" bIns="386925" lIns="386925" spcFirstLastPara="1" rIns="386925" wrap="square" tIns="386925">
            <a:normAutofit/>
          </a:bodyPr>
          <a:lstStyle>
            <a:lvl1pPr lvl="0">
              <a:buNone/>
              <a:defRPr sz="4231"/>
            </a:lvl1pPr>
            <a:lvl2pPr lvl="1">
              <a:buNone/>
              <a:defRPr sz="4231"/>
            </a:lvl2pPr>
            <a:lvl3pPr lvl="2">
              <a:buNone/>
              <a:defRPr sz="4231"/>
            </a:lvl3pPr>
            <a:lvl4pPr lvl="3">
              <a:buNone/>
              <a:defRPr sz="4231"/>
            </a:lvl4pPr>
            <a:lvl5pPr lvl="4">
              <a:buNone/>
              <a:defRPr sz="4231"/>
            </a:lvl5pPr>
            <a:lvl6pPr lvl="5">
              <a:buNone/>
              <a:defRPr sz="4231"/>
            </a:lvl6pPr>
            <a:lvl7pPr lvl="6">
              <a:buNone/>
              <a:defRPr sz="4231"/>
            </a:lvl7pPr>
            <a:lvl8pPr lvl="7">
              <a:buNone/>
              <a:defRPr sz="4231"/>
            </a:lvl8pPr>
            <a:lvl9pPr lvl="8">
              <a:buNone/>
              <a:defRPr sz="423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870200" y="3560200"/>
            <a:ext cx="51123000" cy="45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925" lIns="386925" spcFirstLastPara="1" rIns="386925" wrap="square" tIns="38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49"/>
              <a:buNone/>
              <a:defRPr sz="11849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49"/>
              <a:buNone/>
              <a:defRPr sz="11849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49"/>
              <a:buNone/>
              <a:defRPr sz="11849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49"/>
              <a:buNone/>
              <a:defRPr sz="11849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49"/>
              <a:buNone/>
              <a:defRPr sz="11849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49"/>
              <a:buNone/>
              <a:defRPr sz="11849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49"/>
              <a:buNone/>
              <a:defRPr sz="11849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49"/>
              <a:buNone/>
              <a:defRPr sz="11849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49"/>
              <a:buNone/>
              <a:defRPr sz="11849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870200" y="9219800"/>
            <a:ext cx="51123000" cy="27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925" lIns="386925" spcFirstLastPara="1" rIns="386925" wrap="square" tIns="386925">
            <a:normAutofit/>
          </a:bodyPr>
          <a:lstStyle>
            <a:lvl1pPr indent="-712303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617"/>
              <a:buChar char="●"/>
              <a:defRPr sz="7617">
                <a:solidFill>
                  <a:schemeClr val="dk2"/>
                </a:solidFill>
              </a:defRPr>
            </a:lvl1pPr>
            <a:lvl2pPr indent="-604814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925"/>
              <a:buChar char="○"/>
              <a:defRPr sz="5924">
                <a:solidFill>
                  <a:schemeClr val="dk2"/>
                </a:solidFill>
              </a:defRPr>
            </a:lvl2pPr>
            <a:lvl3pPr indent="-604814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925"/>
              <a:buChar char="■"/>
              <a:defRPr sz="5924">
                <a:solidFill>
                  <a:schemeClr val="dk2"/>
                </a:solidFill>
              </a:defRPr>
            </a:lvl3pPr>
            <a:lvl4pPr indent="-604814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925"/>
              <a:buChar char="●"/>
              <a:defRPr sz="5924">
                <a:solidFill>
                  <a:schemeClr val="dk2"/>
                </a:solidFill>
              </a:defRPr>
            </a:lvl4pPr>
            <a:lvl5pPr indent="-604814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925"/>
              <a:buChar char="○"/>
              <a:defRPr sz="5924">
                <a:solidFill>
                  <a:schemeClr val="dk2"/>
                </a:solidFill>
              </a:defRPr>
            </a:lvl5pPr>
            <a:lvl6pPr indent="-604814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925"/>
              <a:buChar char="■"/>
              <a:defRPr sz="5924">
                <a:solidFill>
                  <a:schemeClr val="dk2"/>
                </a:solidFill>
              </a:defRPr>
            </a:lvl6pPr>
            <a:lvl7pPr indent="-604814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925"/>
              <a:buChar char="●"/>
              <a:defRPr sz="5924">
                <a:solidFill>
                  <a:schemeClr val="dk2"/>
                </a:solidFill>
              </a:defRPr>
            </a:lvl7pPr>
            <a:lvl8pPr indent="-604814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925"/>
              <a:buChar char="○"/>
              <a:defRPr sz="5924">
                <a:solidFill>
                  <a:schemeClr val="dk2"/>
                </a:solidFill>
              </a:defRPr>
            </a:lvl8pPr>
            <a:lvl9pPr indent="-604813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925"/>
              <a:buChar char="■"/>
              <a:defRPr sz="5924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0834747" y="37305734"/>
            <a:ext cx="3292800" cy="31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6925" lIns="386925" spcFirstLastPara="1" rIns="386925" wrap="square" tIns="386925">
            <a:normAutofit/>
          </a:bodyPr>
          <a:lstStyle>
            <a:lvl1pPr lvl="0" algn="r">
              <a:buNone/>
              <a:defRPr sz="4231">
                <a:solidFill>
                  <a:schemeClr val="dk2"/>
                </a:solidFill>
              </a:defRPr>
            </a:lvl1pPr>
            <a:lvl2pPr lvl="1" algn="r">
              <a:buNone/>
              <a:defRPr sz="4231">
                <a:solidFill>
                  <a:schemeClr val="dk2"/>
                </a:solidFill>
              </a:defRPr>
            </a:lvl2pPr>
            <a:lvl3pPr lvl="2" algn="r">
              <a:buNone/>
              <a:defRPr sz="4231">
                <a:solidFill>
                  <a:schemeClr val="dk2"/>
                </a:solidFill>
              </a:defRPr>
            </a:lvl3pPr>
            <a:lvl4pPr lvl="3" algn="r">
              <a:buNone/>
              <a:defRPr sz="4231">
                <a:solidFill>
                  <a:schemeClr val="dk2"/>
                </a:solidFill>
              </a:defRPr>
            </a:lvl4pPr>
            <a:lvl5pPr lvl="4" algn="r">
              <a:buNone/>
              <a:defRPr sz="4231">
                <a:solidFill>
                  <a:schemeClr val="dk2"/>
                </a:solidFill>
              </a:defRPr>
            </a:lvl5pPr>
            <a:lvl6pPr lvl="5" algn="r">
              <a:buNone/>
              <a:defRPr sz="4231">
                <a:solidFill>
                  <a:schemeClr val="dk2"/>
                </a:solidFill>
              </a:defRPr>
            </a:lvl6pPr>
            <a:lvl7pPr lvl="6" algn="r">
              <a:buNone/>
              <a:defRPr sz="4231">
                <a:solidFill>
                  <a:schemeClr val="dk2"/>
                </a:solidFill>
              </a:defRPr>
            </a:lvl7pPr>
            <a:lvl8pPr lvl="7" algn="r">
              <a:buNone/>
              <a:defRPr sz="4231">
                <a:solidFill>
                  <a:schemeClr val="dk2"/>
                </a:solidFill>
              </a:defRPr>
            </a:lvl8pPr>
            <a:lvl9pPr lvl="8" algn="r">
              <a:buNone/>
              <a:defRPr sz="423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870200" y="4152600"/>
            <a:ext cx="51123000" cy="8699400"/>
          </a:xfrm>
          <a:prstGeom prst="rect">
            <a:avLst/>
          </a:prstGeom>
        </p:spPr>
        <p:txBody>
          <a:bodyPr anchorCtr="0" anchor="b" bIns="386925" lIns="386925" spcFirstLastPara="1" rIns="386925" wrap="square" tIns="3869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5">
                <a:latin typeface="Roboto"/>
                <a:ea typeface="Roboto"/>
                <a:cs typeface="Roboto"/>
                <a:sym typeface="Roboto"/>
              </a:rPr>
              <a:t>Predictive Modeling of Global Mobile Money Adoption</a:t>
            </a:r>
            <a:endParaRPr b="1" sz="22005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870200" y="22673000"/>
            <a:ext cx="51123000" cy="63414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0"/>
              <a:t>From Linear Failure to Non-Linear Success</a:t>
            </a:r>
            <a:endParaRPr b="1" sz="15000"/>
          </a:p>
        </p:txBody>
      </p:sp>
      <p:sp>
        <p:nvSpPr>
          <p:cNvPr id="56" name="Google Shape;56;p13"/>
          <p:cNvSpPr txBox="1"/>
          <p:nvPr/>
        </p:nvSpPr>
        <p:spPr>
          <a:xfrm>
            <a:off x="35886900" y="31860400"/>
            <a:ext cx="18515400" cy="86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925" lIns="386925" spcFirstLastPara="1" rIns="386925" wrap="square" tIns="38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0">
                <a:solidFill>
                  <a:schemeClr val="dk1"/>
                </a:solidFill>
              </a:rPr>
              <a:t>Aidid Alwi.</a:t>
            </a:r>
            <a:endParaRPr b="1" sz="1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0">
                <a:solidFill>
                  <a:schemeClr val="dk1"/>
                </a:solidFill>
              </a:rPr>
              <a:t>Data Science Portfolio Project</a:t>
            </a:r>
            <a:endParaRPr b="1" sz="1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2265325" y="1031475"/>
            <a:ext cx="51123000" cy="45810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/>
              <a:t>Project Objective &amp; Key Metric</a:t>
            </a:r>
            <a:endParaRPr b="1" sz="2000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1870200" y="9219800"/>
            <a:ext cx="51123000" cy="273321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0">
                <a:solidFill>
                  <a:schemeClr val="dk1"/>
                </a:solidFill>
              </a:rPr>
              <a:t>Objective:</a:t>
            </a:r>
            <a:endParaRPr b="1" sz="15000">
              <a:solidFill>
                <a:schemeClr val="dk1"/>
              </a:solidFill>
            </a:endParaRPr>
          </a:p>
          <a:p>
            <a:pPr indent="-1602407" lvl="0" marL="1934814" rtl="0" algn="l">
              <a:spcBef>
                <a:spcPts val="5078"/>
              </a:spcBef>
              <a:spcAft>
                <a:spcPts val="0"/>
              </a:spcAft>
              <a:buClr>
                <a:schemeClr val="dk1"/>
              </a:buClr>
              <a:buSzPts val="10000"/>
              <a:buChar char="●"/>
            </a:pPr>
            <a:r>
              <a:rPr b="1" lang="en" sz="10000">
                <a:solidFill>
                  <a:schemeClr val="dk1"/>
                </a:solidFill>
              </a:rPr>
              <a:t>Goal:</a:t>
            </a:r>
            <a:r>
              <a:rPr lang="en" sz="10000">
                <a:solidFill>
                  <a:schemeClr val="dk1"/>
                </a:solidFill>
              </a:rPr>
              <a:t> Predict the </a:t>
            </a:r>
            <a:r>
              <a:rPr b="1" lang="en" sz="10000">
                <a:solidFill>
                  <a:schemeClr val="dk1"/>
                </a:solidFill>
              </a:rPr>
              <a:t>Mobile Money Adoption Rate</a:t>
            </a:r>
            <a:r>
              <a:rPr lang="en" sz="10000">
                <a:solidFill>
                  <a:schemeClr val="dk1"/>
                </a:solidFill>
              </a:rPr>
              <a:t> (mobileaccount_t_d).</a:t>
            </a:r>
            <a:endParaRPr sz="10000">
              <a:solidFill>
                <a:schemeClr val="dk1"/>
              </a:solidFill>
            </a:endParaRPr>
          </a:p>
          <a:p>
            <a:pPr indent="-1602407" lvl="0" marL="193481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Char char="●"/>
            </a:pPr>
            <a:r>
              <a:rPr b="1" lang="en" sz="10000">
                <a:solidFill>
                  <a:schemeClr val="dk1"/>
                </a:solidFill>
              </a:rPr>
              <a:t>Task:</a:t>
            </a:r>
            <a:r>
              <a:rPr lang="en" sz="10000">
                <a:solidFill>
                  <a:schemeClr val="dk1"/>
                </a:solidFill>
              </a:rPr>
              <a:t> Identify the top factors driving adoption.</a:t>
            </a:r>
            <a:endParaRPr sz="10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78"/>
              </a:spcBef>
              <a:spcAft>
                <a:spcPts val="5078"/>
              </a:spcAft>
              <a:buNone/>
            </a:pPr>
            <a:r>
              <a:t/>
            </a:r>
            <a:endParaRPr sz="7617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870200" y="22807800"/>
            <a:ext cx="50416800" cy="137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925" lIns="386925" spcFirstLastPara="1" rIns="386925" wrap="square" tIns="38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0">
                <a:solidFill>
                  <a:schemeClr val="dk1"/>
                </a:solidFill>
              </a:rPr>
              <a:t>Success Metric:</a:t>
            </a:r>
            <a:endParaRPr b="1" sz="15000">
              <a:solidFill>
                <a:schemeClr val="dk1"/>
              </a:solidFill>
            </a:endParaRPr>
          </a:p>
          <a:p>
            <a:pPr indent="-1602407" lvl="0" marL="193481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Char char="●"/>
            </a:pPr>
            <a:r>
              <a:rPr lang="en" sz="10000">
                <a:solidFill>
                  <a:schemeClr val="dk1"/>
                </a:solidFill>
              </a:rPr>
              <a:t>The measure of success is achieving a high </a:t>
            </a:r>
            <a:r>
              <a:rPr b="1" lang="en" sz="10000">
                <a:solidFill>
                  <a:schemeClr val="dk1"/>
                </a:solidFill>
              </a:rPr>
              <a:t>R-squared (R</a:t>
            </a:r>
            <a:r>
              <a:rPr b="1" baseline="30000" lang="en" sz="10000">
                <a:solidFill>
                  <a:schemeClr val="dk1"/>
                </a:solidFill>
              </a:rPr>
              <a:t>2</a:t>
            </a:r>
            <a:r>
              <a:rPr b="1" lang="en" sz="10000">
                <a:solidFill>
                  <a:schemeClr val="dk1"/>
                </a:solidFill>
              </a:rPr>
              <a:t>) score</a:t>
            </a:r>
            <a:r>
              <a:rPr lang="en" sz="10000">
                <a:solidFill>
                  <a:schemeClr val="dk1"/>
                </a:solidFill>
              </a:rPr>
              <a:t> (Proportion of variance explained).</a:t>
            </a:r>
            <a:endParaRPr sz="10000">
              <a:solidFill>
                <a:schemeClr val="dk1"/>
              </a:solidFill>
            </a:endParaRPr>
          </a:p>
          <a:p>
            <a:pPr indent="0" lvl="0" marL="1934814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17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1870560" y="-7"/>
            <a:ext cx="51123000" cy="45810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464"/>
              <a:t>Initial Data Landscape: Complexity &amp; Context</a:t>
            </a:r>
            <a:endParaRPr b="1" sz="18464"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81129"/>
            <a:ext cx="31393350" cy="31013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52250" y="6908786"/>
            <a:ext cx="22929120" cy="2514619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1017750" y="35085875"/>
            <a:ext cx="28096800" cy="60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925" lIns="386925" spcFirstLastPara="1" rIns="386925" wrap="square" tIns="38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200">
                <a:solidFill>
                  <a:schemeClr val="dk1"/>
                </a:solidFill>
              </a:rPr>
              <a:t>Regional Dominance:</a:t>
            </a:r>
            <a:r>
              <a:rPr lang="en" sz="8200">
                <a:solidFill>
                  <a:schemeClr val="dk1"/>
                </a:solidFill>
              </a:rPr>
              <a:t> The clear lead of Sub-Saharan Africa confirms a strong </a:t>
            </a:r>
            <a:r>
              <a:rPr b="1" lang="en" sz="8200">
                <a:solidFill>
                  <a:schemeClr val="dk1"/>
                </a:solidFill>
              </a:rPr>
              <a:t>geographic factor</a:t>
            </a:r>
            <a:r>
              <a:rPr lang="en" sz="8200">
                <a:solidFill>
                  <a:schemeClr val="dk1"/>
                </a:solidFill>
              </a:rPr>
              <a:t> driving adoption. Adoption is </a:t>
            </a:r>
            <a:r>
              <a:rPr b="1" lang="en" sz="8200">
                <a:solidFill>
                  <a:schemeClr val="dk1"/>
                </a:solidFill>
              </a:rPr>
              <a:t>highly unequal.</a:t>
            </a:r>
            <a:endParaRPr b="1" sz="82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2252250" y="32399100"/>
            <a:ext cx="22929000" cy="87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925" lIns="386925" spcFirstLastPara="1" rIns="386925" wrap="square" tIns="386925">
            <a:noAutofit/>
          </a:bodyPr>
          <a:lstStyle/>
          <a:p>
            <a:pPr indent="-1488107" lvl="0" marL="193481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Char char="●"/>
            </a:pPr>
            <a:r>
              <a:rPr b="1" lang="en" sz="8200">
                <a:solidFill>
                  <a:schemeClr val="dk1"/>
                </a:solidFill>
              </a:rPr>
              <a:t>Target Variable is Skewed</a:t>
            </a:r>
            <a:r>
              <a:rPr lang="en" sz="8200">
                <a:solidFill>
                  <a:schemeClr val="dk1"/>
                </a:solidFill>
              </a:rPr>
              <a:t>. The distribution is </a:t>
            </a:r>
            <a:r>
              <a:rPr b="1" lang="en" sz="8200">
                <a:solidFill>
                  <a:schemeClr val="dk1"/>
                </a:solidFill>
              </a:rPr>
              <a:t>highly skewed to the right (positive skew)</a:t>
            </a:r>
            <a:r>
              <a:rPr lang="en" sz="8200">
                <a:solidFill>
                  <a:schemeClr val="dk1"/>
                </a:solidFill>
              </a:rPr>
              <a:t>.</a:t>
            </a:r>
            <a:endParaRPr sz="8200">
              <a:solidFill>
                <a:schemeClr val="dk1"/>
              </a:solidFill>
            </a:endParaRPr>
          </a:p>
          <a:p>
            <a:pPr indent="-1475407" lvl="0" marL="193481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Char char="●"/>
            </a:pPr>
            <a:r>
              <a:rPr lang="en" sz="8200">
                <a:solidFill>
                  <a:schemeClr val="dk1"/>
                </a:solidFill>
              </a:rPr>
              <a:t>This suggests that in </a:t>
            </a:r>
            <a:r>
              <a:rPr b="1" lang="en" sz="8200">
                <a:solidFill>
                  <a:schemeClr val="dk1"/>
                </a:solidFill>
              </a:rPr>
              <a:t>most</a:t>
            </a:r>
            <a:r>
              <a:rPr lang="en" sz="8200">
                <a:solidFill>
                  <a:schemeClr val="dk1"/>
                </a:solidFill>
              </a:rPr>
              <a:t> countries/segments, mobile money adoption is still </a:t>
            </a:r>
            <a:r>
              <a:rPr b="1" lang="en" sz="8200">
                <a:solidFill>
                  <a:schemeClr val="dk1"/>
                </a:solidFill>
              </a:rPr>
              <a:t>low or moderate</a:t>
            </a:r>
            <a:r>
              <a:rPr lang="en" sz="8000">
                <a:solidFill>
                  <a:schemeClr val="dk1"/>
                </a:solidFill>
              </a:rPr>
              <a:t>.</a:t>
            </a:r>
            <a:endParaRPr sz="8000">
              <a:solidFill>
                <a:schemeClr val="dk1"/>
              </a:solidFill>
            </a:endParaRPr>
          </a:p>
          <a:p>
            <a:pPr indent="0" lvl="0" marL="1934814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5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0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870560" y="410618"/>
            <a:ext cx="51123000" cy="45810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464"/>
              <a:t>EDA: Time Trends and Account Ownership</a:t>
            </a:r>
            <a:endParaRPr b="1" sz="18464"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1870560" y="4991754"/>
            <a:ext cx="25561500" cy="349368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Autofit/>
          </a:bodyPr>
          <a:lstStyle/>
          <a:p>
            <a:pPr indent="-1670896" lvl="0" marL="193481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79"/>
              <a:buChar char="●"/>
            </a:pPr>
            <a:r>
              <a:rPr lang="en" sz="11078">
                <a:solidFill>
                  <a:schemeClr val="dk1"/>
                </a:solidFill>
              </a:rPr>
              <a:t>The most encouraging sign is the </a:t>
            </a:r>
            <a:r>
              <a:rPr b="1" lang="en" sz="11078">
                <a:solidFill>
                  <a:schemeClr val="dk1"/>
                </a:solidFill>
              </a:rPr>
              <a:t>clear, upward trend</a:t>
            </a:r>
            <a:r>
              <a:rPr lang="en" sz="11078">
                <a:solidFill>
                  <a:schemeClr val="dk1"/>
                </a:solidFill>
              </a:rPr>
              <a:t> in mobile adoption, year-over-year. This confirms that the </a:t>
            </a:r>
            <a:r>
              <a:rPr b="1" lang="en" sz="11078">
                <a:solidFill>
                  <a:schemeClr val="dk1"/>
                </a:solidFill>
              </a:rPr>
              <a:t>'year'</a:t>
            </a:r>
            <a:r>
              <a:rPr lang="en" sz="11078">
                <a:solidFill>
                  <a:schemeClr val="dk1"/>
                </a:solidFill>
              </a:rPr>
              <a:t> feature is a foundational, significant driver.</a:t>
            </a:r>
            <a:endParaRPr sz="11078">
              <a:solidFill>
                <a:schemeClr val="dk1"/>
              </a:solidFill>
            </a:endParaRPr>
          </a:p>
          <a:p>
            <a:pPr indent="-1670896" lvl="0" marL="193481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79"/>
              <a:buChar char="●"/>
            </a:pPr>
            <a:r>
              <a:rPr b="1" lang="en" sz="11078">
                <a:solidFill>
                  <a:schemeClr val="dk1"/>
                </a:solidFill>
              </a:rPr>
              <a:t>Financial Inclusion:</a:t>
            </a:r>
            <a:r>
              <a:rPr lang="en" sz="11078">
                <a:solidFill>
                  <a:schemeClr val="dk1"/>
                </a:solidFill>
              </a:rPr>
              <a:t> Mobile accounts are growing, often </a:t>
            </a:r>
            <a:r>
              <a:rPr b="1" lang="en" sz="11078">
                <a:solidFill>
                  <a:schemeClr val="dk1"/>
                </a:solidFill>
              </a:rPr>
              <a:t>outpacing</a:t>
            </a:r>
            <a:r>
              <a:rPr lang="en" sz="11078">
                <a:solidFill>
                  <a:schemeClr val="dk1"/>
                </a:solidFill>
              </a:rPr>
              <a:t> traditional banking efforts in developing regions.</a:t>
            </a:r>
            <a:endParaRPr sz="11078">
              <a:solidFill>
                <a:schemeClr val="dk1"/>
              </a:solidFill>
            </a:endParaRPr>
          </a:p>
          <a:p>
            <a:pPr indent="-1670896" lvl="0" marL="193481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79"/>
              <a:buChar char="●"/>
            </a:pPr>
            <a:r>
              <a:rPr b="1" lang="en" sz="11078">
                <a:solidFill>
                  <a:schemeClr val="dk1"/>
                </a:solidFill>
              </a:rPr>
              <a:t>Note on 2022 Dip:</a:t>
            </a:r>
            <a:r>
              <a:rPr lang="en" sz="11078">
                <a:solidFill>
                  <a:schemeClr val="dk1"/>
                </a:solidFill>
              </a:rPr>
              <a:t> The sharp, simultaneous drop and subsequent 2024 recovery suggest a </a:t>
            </a:r>
            <a:r>
              <a:rPr b="1" lang="en" sz="11078">
                <a:solidFill>
                  <a:schemeClr val="dk1"/>
                </a:solidFill>
              </a:rPr>
              <a:t>Data Anomaly or Temporary Global Disruption</a:t>
            </a:r>
            <a:r>
              <a:rPr lang="en" sz="11078">
                <a:solidFill>
                  <a:schemeClr val="dk1"/>
                </a:solidFill>
              </a:rPr>
              <a:t> (e.g., post-COVID sampling changes or economic shock), not a true reversal of the long-term upward trend.</a:t>
            </a:r>
            <a:endParaRPr sz="11078">
              <a:solidFill>
                <a:schemeClr val="dk1"/>
              </a:solidFill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07240" y="4991754"/>
            <a:ext cx="26456760" cy="34937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870560" y="-7"/>
            <a:ext cx="51123000" cy="45810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464"/>
              <a:t>Model 1: The Flawed Linear Diagnosis</a:t>
            </a:r>
            <a:endParaRPr b="1" sz="18464"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886140" y="5398589"/>
            <a:ext cx="25562400" cy="188919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309">
                <a:solidFill>
                  <a:schemeClr val="dk1"/>
                </a:solidFill>
              </a:rPr>
              <a:t>1. Structural Flaw:</a:t>
            </a:r>
            <a:r>
              <a:rPr lang="en" sz="12309">
                <a:solidFill>
                  <a:schemeClr val="dk1"/>
                </a:solidFill>
              </a:rPr>
              <a:t> Perfect Multicollinearity (VIF = inf).</a:t>
            </a:r>
            <a:endParaRPr sz="1230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78"/>
              </a:spcBef>
              <a:spcAft>
                <a:spcPts val="0"/>
              </a:spcAft>
              <a:buNone/>
            </a:pPr>
            <a:r>
              <a:rPr b="1" lang="en" sz="12309">
                <a:solidFill>
                  <a:schemeClr val="dk1"/>
                </a:solidFill>
              </a:rPr>
              <a:t>2. </a:t>
            </a:r>
            <a:r>
              <a:rPr b="1" lang="en" sz="12309">
                <a:solidFill>
                  <a:srgbClr val="FF0000"/>
                </a:solidFill>
              </a:rPr>
              <a:t>Fatal Flaw</a:t>
            </a:r>
            <a:r>
              <a:rPr b="1" lang="en" sz="12309">
                <a:solidFill>
                  <a:schemeClr val="dk1"/>
                </a:solidFill>
              </a:rPr>
              <a:t>:</a:t>
            </a:r>
            <a:r>
              <a:rPr lang="en" sz="12309">
                <a:solidFill>
                  <a:schemeClr val="dk1"/>
                </a:solidFill>
              </a:rPr>
              <a:t> </a:t>
            </a:r>
            <a:r>
              <a:rPr b="1" lang="en" sz="12309">
                <a:solidFill>
                  <a:schemeClr val="dk1"/>
                </a:solidFill>
              </a:rPr>
              <a:t>Linearity Assumption Violated.</a:t>
            </a:r>
            <a:endParaRPr b="1" sz="1230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78"/>
              </a:spcBef>
              <a:spcAft>
                <a:spcPts val="0"/>
              </a:spcAft>
              <a:buNone/>
            </a:pPr>
            <a:r>
              <a:rPr b="1" lang="en" sz="12309">
                <a:solidFill>
                  <a:schemeClr val="dk1"/>
                </a:solidFill>
              </a:rPr>
              <a:t>3. Performance:</a:t>
            </a:r>
            <a:r>
              <a:rPr lang="en" sz="12309">
                <a:solidFill>
                  <a:schemeClr val="dk1"/>
                </a:solidFill>
              </a:rPr>
              <a:t> R</a:t>
            </a:r>
            <a:r>
              <a:rPr baseline="30000" lang="en" sz="12309">
                <a:solidFill>
                  <a:schemeClr val="dk1"/>
                </a:solidFill>
              </a:rPr>
              <a:t>2 </a:t>
            </a:r>
            <a:r>
              <a:rPr lang="en" sz="12309">
                <a:solidFill>
                  <a:schemeClr val="dk1"/>
                </a:solidFill>
              </a:rPr>
              <a:t> = 0.127 </a:t>
            </a:r>
            <a:endParaRPr sz="1230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78"/>
              </a:spcBef>
              <a:spcAft>
                <a:spcPts val="0"/>
              </a:spcAft>
              <a:buNone/>
            </a:pPr>
            <a:r>
              <a:rPr lang="en" sz="12309">
                <a:solidFill>
                  <a:schemeClr val="dk1"/>
                </a:solidFill>
              </a:rPr>
              <a:t>4. </a:t>
            </a:r>
            <a:r>
              <a:rPr b="1" lang="en" sz="12309">
                <a:solidFill>
                  <a:schemeClr val="dk1"/>
                </a:solidFill>
              </a:rPr>
              <a:t>Action:</a:t>
            </a:r>
            <a:r>
              <a:rPr lang="en" sz="12309">
                <a:solidFill>
                  <a:schemeClr val="dk1"/>
                </a:solidFill>
              </a:rPr>
              <a:t> Removed one redundant category from each set of encoded features.</a:t>
            </a:r>
            <a:endParaRPr sz="1230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78"/>
              </a:spcBef>
              <a:spcAft>
                <a:spcPts val="5078"/>
              </a:spcAft>
              <a:buNone/>
            </a:pPr>
            <a:r>
              <a:t/>
            </a:r>
            <a:endParaRPr sz="5501">
              <a:solidFill>
                <a:schemeClr val="dk1"/>
              </a:solidFill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00" y="5398586"/>
            <a:ext cx="26517599" cy="2843421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886140" y="22563289"/>
            <a:ext cx="25562400" cy="18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925" lIns="386925" spcFirstLastPara="1" rIns="386925" wrap="square" tIns="386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78"/>
              </a:spcAft>
              <a:buClr>
                <a:schemeClr val="dk1"/>
              </a:buClr>
              <a:buSzPts val="4655"/>
              <a:buFont typeface="Arial"/>
              <a:buNone/>
            </a:pPr>
            <a:r>
              <a:rPr b="1" lang="en" sz="12309">
                <a:solidFill>
                  <a:schemeClr val="dk1"/>
                </a:solidFill>
              </a:rPr>
              <a:t>NOTE: </a:t>
            </a:r>
            <a:r>
              <a:rPr lang="en" sz="12309">
                <a:solidFill>
                  <a:schemeClr val="dk1"/>
                </a:solidFill>
              </a:rPr>
              <a:t>Because the model is invalid for prediction, we reject it. But before we pivot to a non-linear solution, we use this stable, corrected model to extract the </a:t>
            </a:r>
            <a:r>
              <a:rPr b="1" lang="en" sz="12309">
                <a:solidFill>
                  <a:schemeClr val="dk1"/>
                </a:solidFill>
              </a:rPr>
              <a:t>statistically significant drivers</a:t>
            </a:r>
            <a:r>
              <a:rPr lang="en" sz="12309">
                <a:solidFill>
                  <a:schemeClr val="dk1"/>
                </a:solidFill>
              </a:rPr>
              <a:t> that guide our focus, which leads us to Slide 6</a:t>
            </a:r>
            <a:endParaRPr sz="12309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1870200" y="0"/>
            <a:ext cx="51123000" cy="45909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464"/>
              <a:t>Model 1: Reliable Statistical Drivers (P &lt; 0.05)</a:t>
            </a:r>
            <a:endParaRPr b="1" sz="18464"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590910" y="29971993"/>
            <a:ext cx="53682600" cy="113922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spAutoFit/>
          </a:bodyPr>
          <a:lstStyle/>
          <a:p>
            <a:pPr indent="-1749061" lvl="0" marL="193481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10"/>
              <a:buChar char="●"/>
            </a:pPr>
            <a:r>
              <a:rPr b="1" lang="en" sz="12309">
                <a:solidFill>
                  <a:schemeClr val="dk1"/>
                </a:solidFill>
              </a:rPr>
              <a:t>CRUCIAL FLAW:</a:t>
            </a:r>
            <a:r>
              <a:rPr lang="en" sz="12309">
                <a:solidFill>
                  <a:schemeClr val="dk1"/>
                </a:solidFill>
              </a:rPr>
              <a:t> OLS found </a:t>
            </a:r>
            <a:r>
              <a:rPr b="1" lang="en" sz="12309">
                <a:solidFill>
                  <a:schemeClr val="dk1"/>
                </a:solidFill>
              </a:rPr>
              <a:t>Adult Population </a:t>
            </a:r>
            <a:r>
              <a:rPr b="1" lang="en" sz="12309">
                <a:solidFill>
                  <a:schemeClr val="dk1"/>
                </a:solidFill>
              </a:rPr>
              <a:t>(pop_adult)</a:t>
            </a:r>
            <a:r>
              <a:rPr lang="en" sz="12309">
                <a:solidFill>
                  <a:schemeClr val="dk1"/>
                </a:solidFill>
              </a:rPr>
              <a:t> to be </a:t>
            </a:r>
            <a:r>
              <a:rPr b="1" lang="en" sz="12309">
                <a:solidFill>
                  <a:schemeClr val="dk1"/>
                </a:solidFill>
              </a:rPr>
              <a:t>Not Statistically Significant (P = 0.234)</a:t>
            </a:r>
            <a:r>
              <a:rPr lang="en" sz="12309">
                <a:solidFill>
                  <a:schemeClr val="dk1"/>
                </a:solidFill>
              </a:rPr>
              <a:t>, suggesting market size does not linearly influence adoption. Model advises us to </a:t>
            </a:r>
            <a:r>
              <a:rPr b="1" lang="en" sz="12309">
                <a:solidFill>
                  <a:schemeClr val="dk1"/>
                </a:solidFill>
              </a:rPr>
              <a:t>ignore market size</a:t>
            </a:r>
            <a:r>
              <a:rPr lang="en" sz="12309">
                <a:solidFill>
                  <a:schemeClr val="dk1"/>
                </a:solidFill>
              </a:rPr>
              <a:t>.</a:t>
            </a:r>
            <a:endParaRPr sz="12309">
              <a:solidFill>
                <a:schemeClr val="dk1"/>
              </a:solidFill>
            </a:endParaRPr>
          </a:p>
          <a:p>
            <a:pPr indent="-1749061" lvl="0" marL="193481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10"/>
              <a:buChar char="●"/>
            </a:pPr>
            <a:r>
              <a:rPr b="1" lang="en" sz="12309">
                <a:solidFill>
                  <a:schemeClr val="dk1"/>
                </a:solidFill>
              </a:rPr>
              <a:t>CONCLUSION:</a:t>
            </a:r>
            <a:r>
              <a:rPr lang="en" sz="12309">
                <a:solidFill>
                  <a:schemeClr val="dk1"/>
                </a:solidFill>
              </a:rPr>
              <a:t> Model rejected for R</a:t>
            </a:r>
            <a:r>
              <a:rPr baseline="30000" lang="en" sz="12309">
                <a:solidFill>
                  <a:schemeClr val="dk1"/>
                </a:solidFill>
              </a:rPr>
              <a:t>2</a:t>
            </a:r>
            <a:r>
              <a:rPr lang="en" sz="12309">
                <a:solidFill>
                  <a:schemeClr val="dk1"/>
                </a:solidFill>
              </a:rPr>
              <a:t> = 0.127 failure.  </a:t>
            </a:r>
            <a:endParaRPr sz="12309">
              <a:solidFill>
                <a:schemeClr val="dk1"/>
              </a:solidFill>
            </a:endParaRPr>
          </a:p>
          <a:p>
            <a:pPr indent="-1749061" lvl="0" marL="193481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10"/>
              <a:buChar char="●"/>
            </a:pPr>
            <a:r>
              <a:rPr lang="en" sz="12309">
                <a:solidFill>
                  <a:schemeClr val="dk1"/>
                </a:solidFill>
              </a:rPr>
              <a:t>Pivot to </a:t>
            </a:r>
            <a:r>
              <a:rPr b="1" lang="en" sz="12309">
                <a:solidFill>
                  <a:schemeClr val="dk1"/>
                </a:solidFill>
              </a:rPr>
              <a:t>Random Forest Regressor</a:t>
            </a:r>
            <a:r>
              <a:rPr lang="en" sz="12309">
                <a:solidFill>
                  <a:schemeClr val="dk1"/>
                </a:solidFill>
              </a:rPr>
              <a:t> to find the true effect of market size.</a:t>
            </a:r>
            <a:endParaRPr sz="12309">
              <a:solidFill>
                <a:schemeClr val="dk1"/>
              </a:solidFill>
            </a:endParaRPr>
          </a:p>
        </p:txBody>
      </p:sp>
      <p:graphicFrame>
        <p:nvGraphicFramePr>
          <p:cNvPr id="94" name="Google Shape;94;p18"/>
          <p:cNvGraphicFramePr/>
          <p:nvPr/>
        </p:nvGraphicFramePr>
        <p:xfrm>
          <a:off x="199875" y="459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{4915D19C-9A88-40C2-A0AC-736F9326FBF2}</a:tableStyleId>
              </a:tblPr>
              <a:tblGrid>
                <a:gridCol w="7291175"/>
                <a:gridCol w="16146025"/>
                <a:gridCol w="8104000"/>
                <a:gridCol w="5592575"/>
                <a:gridCol w="17530350"/>
              </a:tblGrid>
              <a:tr h="6393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200"/>
                        <a:t>Rank by Magnitude</a:t>
                      </a:r>
                      <a:endParaRPr sz="11200"/>
                    </a:p>
                  </a:txBody>
                  <a:tcPr marT="731325" marB="731325" marR="329100" marL="3291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200"/>
                        <a:t>Feature</a:t>
                      </a:r>
                      <a:endParaRPr sz="11200"/>
                    </a:p>
                  </a:txBody>
                  <a:tcPr marT="731325" marB="731325" marR="329100" marL="3291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200"/>
                        <a:t>Coefficient</a:t>
                      </a:r>
                      <a:endParaRPr sz="11200"/>
                    </a:p>
                  </a:txBody>
                  <a:tcPr marT="731325" marB="731325" marR="329100" marL="3291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200"/>
                        <a:t>P-value</a:t>
                      </a:r>
                      <a:endParaRPr sz="11200"/>
                    </a:p>
                  </a:txBody>
                  <a:tcPr marT="731325" marB="731325" marR="329100" marL="3291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200"/>
                        <a:t>Interpretation</a:t>
                      </a:r>
                      <a:endParaRPr sz="11200"/>
                    </a:p>
                  </a:txBody>
                  <a:tcPr marT="731325" marB="731325" marR="329100" marL="329100"/>
                </a:tc>
              </a:tr>
              <a:tr h="553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400"/>
                        <a:t>1</a:t>
                      </a:r>
                      <a:endParaRPr sz="10400"/>
                    </a:p>
                  </a:txBody>
                  <a:tcPr marT="731325" marB="731325" marR="329100" marL="3291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400"/>
                        <a:t>Sub-Saharan-Africa</a:t>
                      </a:r>
                      <a:r>
                        <a:rPr lang="en" sz="10400"/>
                        <a:t>...</a:t>
                      </a:r>
                      <a:endParaRPr sz="10400"/>
                    </a:p>
                  </a:txBody>
                  <a:tcPr marT="731325" marB="731325" marR="329100" marL="3291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400"/>
                        <a:t>+</a:t>
                      </a:r>
                      <a:r>
                        <a:rPr lang="en" sz="10400">
                          <a:solidFill>
                            <a:schemeClr val="dk1"/>
                          </a:solidFill>
                        </a:rPr>
                        <a:t>0.0970</a:t>
                      </a:r>
                      <a:endParaRPr sz="10400"/>
                    </a:p>
                  </a:txBody>
                  <a:tcPr marT="731325" marB="731325" marR="329100" marL="3291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400"/>
                        <a:t>0.000</a:t>
                      </a:r>
                      <a:endParaRPr b="1" sz="10400"/>
                    </a:p>
                  </a:txBody>
                  <a:tcPr marT="731325" marB="731325" marR="329100" marL="3291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400">
                          <a:solidFill>
                            <a:schemeClr val="dk1"/>
                          </a:solidFill>
                        </a:rPr>
                        <a:t>Strongest Regiona Driver</a:t>
                      </a:r>
                      <a:r>
                        <a:rPr lang="en" sz="10400">
                          <a:solidFill>
                            <a:schemeClr val="dk1"/>
                          </a:solidFill>
                        </a:rPr>
                        <a:t> (vs. High Income baseline)</a:t>
                      </a:r>
                      <a:endParaRPr b="1" sz="10400"/>
                    </a:p>
                  </a:txBody>
                  <a:tcPr marT="731325" marB="731325" marR="329100" marL="329100"/>
                </a:tc>
              </a:tr>
              <a:tr h="603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400"/>
                        <a:t>2</a:t>
                      </a:r>
                      <a:endParaRPr sz="10400"/>
                    </a:p>
                  </a:txBody>
                  <a:tcPr marT="731325" marB="731325" marR="329100" marL="3291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400"/>
                        <a:t>year</a:t>
                      </a:r>
                      <a:endParaRPr sz="10400"/>
                    </a:p>
                  </a:txBody>
                  <a:tcPr marT="731325" marB="731325" marR="329100" marL="3291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400"/>
                        <a:t>+0.0414</a:t>
                      </a:r>
                      <a:endParaRPr sz="10400"/>
                    </a:p>
                  </a:txBody>
                  <a:tcPr marT="731325" marB="731325" marR="329100" marL="3291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400"/>
                        <a:t>0.000</a:t>
                      </a:r>
                      <a:endParaRPr b="1" sz="10400"/>
                    </a:p>
                  </a:txBody>
                  <a:tcPr marT="731325" marB="731325" marR="329100" marL="3291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400">
                          <a:solidFill>
                            <a:schemeClr val="dk1"/>
                          </a:solidFill>
                        </a:rPr>
                        <a:t>Strong Positive Trend.</a:t>
                      </a:r>
                      <a:r>
                        <a:rPr lang="en" sz="10400">
                          <a:solidFill>
                            <a:schemeClr val="dk1"/>
                          </a:solidFill>
                        </a:rPr>
                        <a:t> Adoption increases by approx 4.1% per year.</a:t>
                      </a:r>
                      <a:endParaRPr sz="10400"/>
                    </a:p>
                  </a:txBody>
                  <a:tcPr marT="731325" marB="731325" marR="329100" marL="329100"/>
                </a:tc>
              </a:tr>
              <a:tr h="603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400"/>
                        <a:t>4</a:t>
                      </a:r>
                      <a:endParaRPr sz="10400"/>
                    </a:p>
                  </a:txBody>
                  <a:tcPr marT="731325" marB="731325" marR="329100" marL="3291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400"/>
                        <a:t>Traditional banking (</a:t>
                      </a:r>
                      <a:r>
                        <a:rPr lang="en" sz="10400"/>
                        <a:t>account_t_d)</a:t>
                      </a:r>
                      <a:endParaRPr sz="10400"/>
                    </a:p>
                  </a:txBody>
                  <a:tcPr marT="731325" marB="731325" marR="329100" marL="3291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400"/>
                        <a:t>+0.0396</a:t>
                      </a:r>
                      <a:endParaRPr sz="10400"/>
                    </a:p>
                  </a:txBody>
                  <a:tcPr marT="731325" marB="731325" marR="329100" marL="3291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400"/>
                        <a:t>0.000</a:t>
                      </a:r>
                      <a:endParaRPr b="1" sz="10400"/>
                    </a:p>
                  </a:txBody>
                  <a:tcPr marT="731325" marB="731325" marR="329100" marL="3291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400">
                          <a:solidFill>
                            <a:schemeClr val="dk1"/>
                          </a:solidFill>
                        </a:rPr>
                        <a:t>Positive.</a:t>
                      </a:r>
                      <a:r>
                        <a:rPr lang="en" sz="10400">
                          <a:solidFill>
                            <a:schemeClr val="dk1"/>
                          </a:solidFill>
                        </a:rPr>
                        <a:t> Traditional banking access is correlated with higher adoption.</a:t>
                      </a:r>
                      <a:endParaRPr sz="10400"/>
                    </a:p>
                  </a:txBody>
                  <a:tcPr marT="731325" marB="731325" marR="329100" marL="32910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/>
        </p:nvSpPr>
        <p:spPr>
          <a:xfrm>
            <a:off x="2868750" y="695400"/>
            <a:ext cx="49291200" cy="6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925" lIns="386925" spcFirstLastPara="1" rIns="386925" wrap="square" tIns="38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chemeClr val="dk1"/>
                </a:solidFill>
              </a:rPr>
              <a:t>The Solution: Non-Linear Random Forest Success</a:t>
            </a:r>
            <a:endParaRPr b="1" sz="20000">
              <a:solidFill>
                <a:schemeClr val="dk2"/>
              </a:solidFill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1738650" y="11243409"/>
            <a:ext cx="19123200" cy="158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925" lIns="386925" spcFirstLastPara="1" rIns="386925" wrap="square" tIns="38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391">
                <a:solidFill>
                  <a:srgbClr val="E06666"/>
                </a:solidFill>
              </a:rPr>
              <a:t>OLS R</a:t>
            </a:r>
            <a:r>
              <a:rPr baseline="30000" lang="en" sz="25391">
                <a:solidFill>
                  <a:srgbClr val="E06666"/>
                </a:solidFill>
              </a:rPr>
              <a:t>2</a:t>
            </a:r>
            <a:endParaRPr baseline="30000" sz="25391">
              <a:solidFill>
                <a:srgbClr val="E06666"/>
              </a:solidFill>
            </a:endParaRPr>
          </a:p>
          <a:p>
            <a:pPr indent="0" lvl="0" marL="0" rtl="0" algn="l">
              <a:spcBef>
                <a:spcPts val="1231"/>
              </a:spcBef>
              <a:spcAft>
                <a:spcPts val="0"/>
              </a:spcAft>
              <a:buNone/>
            </a:pPr>
            <a:r>
              <a:rPr lang="en" sz="25391">
                <a:solidFill>
                  <a:srgbClr val="E06666"/>
                </a:solidFill>
              </a:rPr>
              <a:t>0.127</a:t>
            </a:r>
            <a:endParaRPr sz="25391">
              <a:solidFill>
                <a:srgbClr val="E06666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2868750" y="28088389"/>
            <a:ext cx="17234700" cy="4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925" lIns="386925" spcFirstLastPara="1" rIns="386925" wrap="square" tIns="38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09">
                <a:solidFill>
                  <a:srgbClr val="E06666"/>
                </a:solidFill>
              </a:rPr>
              <a:t>Rejected Failure</a:t>
            </a:r>
            <a:r>
              <a:rPr lang="en" sz="10156">
                <a:solidFill>
                  <a:srgbClr val="E06666"/>
                </a:solidFill>
              </a:rPr>
              <a:t> </a:t>
            </a:r>
            <a:endParaRPr sz="10156">
              <a:solidFill>
                <a:srgbClr val="E06666"/>
              </a:solidFill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33554550" y="11243409"/>
            <a:ext cx="20081400" cy="158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925" lIns="386925" spcFirstLastPara="1" rIns="386925" wrap="square" tIns="386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391">
                <a:solidFill>
                  <a:srgbClr val="00FF00"/>
                </a:solidFill>
              </a:rPr>
              <a:t>RF R</a:t>
            </a:r>
            <a:r>
              <a:rPr baseline="30000" lang="en" sz="25391">
                <a:solidFill>
                  <a:srgbClr val="00FF00"/>
                </a:solidFill>
              </a:rPr>
              <a:t>2</a:t>
            </a:r>
            <a:endParaRPr sz="25391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391">
                <a:solidFill>
                  <a:srgbClr val="00FF00"/>
                </a:solidFill>
              </a:rPr>
              <a:t>0.6804</a:t>
            </a:r>
            <a:endParaRPr baseline="30000" sz="25391">
              <a:solidFill>
                <a:srgbClr val="00FF00"/>
              </a:solidFill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34458090" y="28088389"/>
            <a:ext cx="14951400" cy="4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925" lIns="386925" spcFirstLastPara="1" rIns="386925" wrap="square" tIns="38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09">
                <a:solidFill>
                  <a:srgbClr val="00FF00"/>
                </a:solidFill>
              </a:rPr>
              <a:t>Predictive Success</a:t>
            </a:r>
            <a:endParaRPr sz="12309">
              <a:solidFill>
                <a:srgbClr val="00FF00"/>
              </a:solidFill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18602000" y="18951600"/>
            <a:ext cx="14951400" cy="3245400"/>
          </a:xfrm>
          <a:prstGeom prst="rightArrow">
            <a:avLst>
              <a:gd fmla="val 64287" name="adj1"/>
              <a:gd fmla="val 50000" name="adj2"/>
            </a:avLst>
          </a:prstGeom>
          <a:solidFill>
            <a:schemeClr val="lt2"/>
          </a:solidFill>
          <a:ln cap="flat" cmpd="sng" w="40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6925" lIns="386925" spcFirstLastPara="1" rIns="386925" wrap="square" tIns="38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24"/>
          </a:p>
        </p:txBody>
      </p:sp>
      <p:sp>
        <p:nvSpPr>
          <p:cNvPr id="105" name="Google Shape;105;p19"/>
          <p:cNvSpPr txBox="1"/>
          <p:nvPr/>
        </p:nvSpPr>
        <p:spPr>
          <a:xfrm>
            <a:off x="19646850" y="14893200"/>
            <a:ext cx="11563200" cy="4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925" lIns="386925" spcFirstLastPara="1" rIns="386925" wrap="square" tIns="38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309">
                <a:solidFill>
                  <a:schemeClr val="dk1"/>
                </a:solidFill>
              </a:rPr>
              <a:t>534% increase</a:t>
            </a:r>
            <a:endParaRPr b="1" sz="12309">
              <a:solidFill>
                <a:schemeClr val="dk1"/>
              </a:solidFill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1738650" y="34543000"/>
            <a:ext cx="53125200" cy="6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925" lIns="386925" spcFirstLastPara="1" rIns="386925" wrap="square" tIns="386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55"/>
              <a:buFont typeface="Arial"/>
              <a:buNone/>
            </a:pPr>
            <a:r>
              <a:rPr b="1" lang="en" sz="12309">
                <a:solidFill>
                  <a:schemeClr val="dk1"/>
                </a:solidFill>
              </a:rPr>
              <a:t>Takeaway:</a:t>
            </a:r>
            <a:r>
              <a:rPr lang="en" sz="12309">
                <a:solidFill>
                  <a:schemeClr val="dk2"/>
                </a:solidFill>
              </a:rPr>
              <a:t> </a:t>
            </a:r>
            <a:r>
              <a:rPr lang="en" sz="12309">
                <a:solidFill>
                  <a:schemeClr val="dk1"/>
                </a:solidFill>
              </a:rPr>
              <a:t>The model now explains over two-thirds of the variance in Mobile Money Adoption.</a:t>
            </a:r>
            <a:endParaRPr sz="1230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17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/>
        </p:nvSpPr>
        <p:spPr>
          <a:xfrm>
            <a:off x="5689600" y="0"/>
            <a:ext cx="399219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6925" lIns="386925" spcFirstLastPara="1" rIns="386925" wrap="square" tIns="38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chemeClr val="dk1"/>
                </a:solidFill>
              </a:rPr>
              <a:t>RF Success: Identifying the True Predictive Drivers</a:t>
            </a:r>
            <a:endParaRPr b="1" sz="20000">
              <a:solidFill>
                <a:schemeClr val="dk1"/>
              </a:solidFill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22350" y="5610574"/>
            <a:ext cx="38080601" cy="3066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/>
          <p:nvPr/>
        </p:nvSpPr>
        <p:spPr>
          <a:xfrm>
            <a:off x="898050" y="7293000"/>
            <a:ext cx="11837400" cy="85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925" lIns="386925" spcFirstLastPara="1" rIns="386925" wrap="square" tIns="386925">
            <a:noAutofit/>
          </a:bodyPr>
          <a:lstStyle/>
          <a:p>
            <a:pPr indent="-1530198" lvl="0" marL="193481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63"/>
              <a:buChar char="●"/>
            </a:pPr>
            <a:r>
              <a:rPr b="1" lang="en" sz="8862">
                <a:solidFill>
                  <a:schemeClr val="dk1"/>
                </a:solidFill>
              </a:rPr>
              <a:t>Adult Population (pop_adult):</a:t>
            </a:r>
            <a:r>
              <a:rPr lang="en" sz="8862">
                <a:solidFill>
                  <a:schemeClr val="dk1"/>
                </a:solidFill>
              </a:rPr>
              <a:t> 31.1% Importance</a:t>
            </a:r>
            <a:endParaRPr sz="8862">
              <a:solidFill>
                <a:schemeClr val="dk1"/>
              </a:solidFill>
            </a:endParaRPr>
          </a:p>
          <a:p>
            <a:pPr indent="0" lvl="0" marL="1934814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01">
              <a:solidFill>
                <a:schemeClr val="dk1"/>
              </a:solidFill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489900" y="17743800"/>
            <a:ext cx="14533200" cy="16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925" lIns="386925" spcFirstLastPara="1" rIns="386925" wrap="square" tIns="386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862" u="sng">
                <a:solidFill>
                  <a:schemeClr val="dk1"/>
                </a:solidFill>
              </a:rPr>
              <a:t>THE CRITICAL CONTRADICTION:</a:t>
            </a:r>
            <a:endParaRPr b="1" sz="8862" u="sng">
              <a:solidFill>
                <a:schemeClr val="dk1"/>
              </a:solidFill>
            </a:endParaRPr>
          </a:p>
          <a:p>
            <a:pPr indent="-1530198" lvl="0" marL="193481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63"/>
              <a:buChar char="●"/>
            </a:pPr>
            <a:r>
              <a:rPr lang="en" sz="8862">
                <a:solidFill>
                  <a:schemeClr val="dk1"/>
                </a:solidFill>
              </a:rPr>
              <a:t>OLS: Said pop_adult was </a:t>
            </a:r>
            <a:r>
              <a:rPr b="1" lang="en" sz="8862">
                <a:solidFill>
                  <a:schemeClr val="dk1"/>
                </a:solidFill>
              </a:rPr>
              <a:t>NOT significant</a:t>
            </a:r>
            <a:endParaRPr b="1" sz="8862">
              <a:solidFill>
                <a:schemeClr val="dk1"/>
              </a:solidFill>
            </a:endParaRPr>
          </a:p>
          <a:p>
            <a:pPr indent="-1530198" lvl="0" marL="193481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63"/>
              <a:buChar char="●"/>
            </a:pPr>
            <a:r>
              <a:rPr b="1" lang="en" sz="8862">
                <a:solidFill>
                  <a:schemeClr val="dk1"/>
                </a:solidFill>
              </a:rPr>
              <a:t>RF: </a:t>
            </a:r>
            <a:r>
              <a:rPr lang="en" sz="8862">
                <a:solidFill>
                  <a:schemeClr val="dk1"/>
                </a:solidFill>
              </a:rPr>
              <a:t>Proves it is the </a:t>
            </a:r>
            <a:r>
              <a:rPr b="1" lang="en" sz="8862">
                <a:solidFill>
                  <a:schemeClr val="dk1"/>
                </a:solidFill>
              </a:rPr>
              <a:t>SINGLE  MOST IMPORTANT FACTOR</a:t>
            </a:r>
            <a:endParaRPr sz="8862">
              <a:solidFill>
                <a:schemeClr val="dk1"/>
              </a:solidFill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3510600" y="36902600"/>
            <a:ext cx="50618400" cy="3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925" lIns="386925" spcFirstLastPara="1" rIns="386925" wrap="square" tIns="386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55"/>
              <a:buFont typeface="Arial"/>
              <a:buNone/>
            </a:pPr>
            <a:r>
              <a:rPr b="1" lang="en" sz="10000">
                <a:solidFill>
                  <a:schemeClr val="dk1"/>
                </a:solidFill>
              </a:rPr>
              <a:t>CONCLUSION: </a:t>
            </a:r>
            <a:r>
              <a:rPr lang="en" sz="10000">
                <a:solidFill>
                  <a:schemeClr val="dk1"/>
                </a:solidFill>
              </a:rPr>
              <a:t>Market size is not a linear factor; it is a non-linear threshold for explosive adoption growth</a:t>
            </a:r>
            <a:r>
              <a:rPr b="1" lang="en" sz="10000">
                <a:solidFill>
                  <a:schemeClr val="dk1"/>
                </a:solidFill>
              </a:rPr>
              <a:t>.</a:t>
            </a:r>
            <a:endParaRPr b="1" sz="10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501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2500">
        <p14:gallery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/>
        </p:nvSpPr>
        <p:spPr>
          <a:xfrm>
            <a:off x="5911925" y="-2"/>
            <a:ext cx="44408400" cy="4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925" lIns="386925" spcFirstLastPara="1" rIns="386925" wrap="square" tIns="38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0">
                <a:solidFill>
                  <a:schemeClr val="dk1"/>
                </a:solidFill>
              </a:rPr>
              <a:t>Translating Prediction to Strategy: The Tableau Dashboard</a:t>
            </a:r>
            <a:endParaRPr b="1" sz="15000">
              <a:solidFill>
                <a:schemeClr val="dk1"/>
              </a:solidFill>
            </a:endParaRPr>
          </a:p>
        </p:txBody>
      </p:sp>
      <p:pic>
        <p:nvPicPr>
          <p:cNvPr id="121" name="Google Shape;121;p21" title="Global Market Entry Strategic Prior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15475"/>
            <a:ext cx="54864001" cy="31607275"/>
          </a:xfrm>
          <a:prstGeom prst="rect">
            <a:avLst/>
          </a:prstGeom>
          <a:noFill/>
          <a:ln>
            <a:noFill/>
          </a:ln>
          <a:effectLst>
            <a:outerShdw blurRad="241852" rotWithShape="0" algn="bl" dir="5400000" dist="80617">
              <a:srgbClr val="000000">
                <a:alpha val="51000"/>
              </a:srgbClr>
            </a:outerShdw>
          </a:effectLst>
        </p:spPr>
      </p:pic>
      <p:sp>
        <p:nvSpPr>
          <p:cNvPr id="122" name="Google Shape;122;p21"/>
          <p:cNvSpPr txBox="1"/>
          <p:nvPr/>
        </p:nvSpPr>
        <p:spPr>
          <a:xfrm>
            <a:off x="2086200" y="36822761"/>
            <a:ext cx="52059900" cy="4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525" lIns="112525" spcFirstLastPara="1" rIns="112525" wrap="square" tIns="112525">
            <a:noAutofit/>
          </a:bodyPr>
          <a:lstStyle/>
          <a:p>
            <a:pPr indent="-844188" lvl="0" marL="56279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63"/>
              <a:buChar char="●"/>
            </a:pPr>
            <a:r>
              <a:rPr b="1" lang="en" sz="8862">
                <a:solidFill>
                  <a:schemeClr val="dk1"/>
                </a:solidFill>
              </a:rPr>
              <a:t>Targeting:</a:t>
            </a:r>
            <a:r>
              <a:rPr lang="en" sz="8862">
                <a:solidFill>
                  <a:schemeClr val="dk1"/>
                </a:solidFill>
              </a:rPr>
              <a:t> Visualizes Structural Readiness vs. Scale (The Quadrant).</a:t>
            </a:r>
            <a:endParaRPr sz="8862">
              <a:solidFill>
                <a:schemeClr val="dk1"/>
              </a:solidFill>
            </a:endParaRPr>
          </a:p>
          <a:p>
            <a:pPr indent="-844188" lvl="0" marL="56279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63"/>
              <a:buChar char="●"/>
            </a:pPr>
            <a:r>
              <a:rPr b="1" lang="en" sz="8862">
                <a:solidFill>
                  <a:schemeClr val="dk1"/>
                </a:solidFill>
              </a:rPr>
              <a:t>Driver Analysis:</a:t>
            </a:r>
            <a:r>
              <a:rPr lang="en" sz="8862">
                <a:solidFill>
                  <a:schemeClr val="dk1"/>
                </a:solidFill>
              </a:rPr>
              <a:t> Allows dynamic filtering by key RF drivers (Internet, Banking, Population).</a:t>
            </a:r>
            <a:endParaRPr sz="8862">
              <a:solidFill>
                <a:schemeClr val="dk1"/>
              </a:solidFill>
            </a:endParaRPr>
          </a:p>
          <a:p>
            <a:pPr indent="-844188" lvl="0" marL="56279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63"/>
              <a:buChar char="●"/>
            </a:pPr>
            <a:r>
              <a:rPr b="1" lang="en" sz="8862">
                <a:solidFill>
                  <a:schemeClr val="dk1"/>
                </a:solidFill>
              </a:rPr>
              <a:t>Market Entry Ranking:</a:t>
            </a:r>
            <a:r>
              <a:rPr lang="en" sz="8862">
                <a:solidFill>
                  <a:schemeClr val="dk1"/>
                </a:solidFill>
              </a:rPr>
              <a:t> Ranks countries by the calculated </a:t>
            </a:r>
            <a:r>
              <a:rPr b="1" lang="en" sz="8862">
                <a:solidFill>
                  <a:schemeClr val="dk1"/>
                </a:solidFill>
              </a:rPr>
              <a:t>Strategic Score</a:t>
            </a:r>
            <a:r>
              <a:rPr lang="en" sz="8862">
                <a:solidFill>
                  <a:schemeClr val="dk1"/>
                </a:solidFill>
              </a:rPr>
              <a:t>.</a:t>
            </a:r>
            <a:endParaRPr sz="886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17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1870200" y="794425"/>
            <a:ext cx="51123000" cy="45810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/>
              <a:t>Key Strategic Conclusions</a:t>
            </a:r>
            <a:endParaRPr b="1" sz="20000"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869250" y="7032975"/>
            <a:ext cx="53182200" cy="274998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 lnSpcReduction="10000"/>
          </a:bodyPr>
          <a:lstStyle/>
          <a:p>
            <a:pPr indent="-1181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Char char="●"/>
            </a:pPr>
            <a:r>
              <a:rPr lang="en" sz="15000">
                <a:solidFill>
                  <a:schemeClr val="dk1"/>
                </a:solidFill>
              </a:rPr>
              <a:t>Our Random Forest model is statistically validated (R</a:t>
            </a:r>
            <a:r>
              <a:rPr baseline="30000" lang="en" sz="15000">
                <a:solidFill>
                  <a:schemeClr val="dk1"/>
                </a:solidFill>
              </a:rPr>
              <a:t>2</a:t>
            </a:r>
            <a:r>
              <a:rPr lang="en" sz="15000">
                <a:solidFill>
                  <a:schemeClr val="dk1"/>
                </a:solidFill>
              </a:rPr>
              <a:t>), confirming the predictive power of </a:t>
            </a:r>
            <a:r>
              <a:rPr b="1" lang="en" sz="15000">
                <a:solidFill>
                  <a:schemeClr val="dk1"/>
                </a:solidFill>
              </a:rPr>
              <a:t>Internet, Banking, and Population</a:t>
            </a:r>
            <a:r>
              <a:rPr lang="en" sz="15000">
                <a:solidFill>
                  <a:schemeClr val="dk1"/>
                </a:solidFill>
              </a:rPr>
              <a:t>.</a:t>
            </a:r>
            <a:endParaRPr sz="15000">
              <a:solidFill>
                <a:schemeClr val="dk1"/>
              </a:solidFill>
            </a:endParaRPr>
          </a:p>
          <a:p>
            <a:pPr indent="-1181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Char char="●"/>
            </a:pPr>
            <a:r>
              <a:rPr lang="en" sz="15000">
                <a:solidFill>
                  <a:schemeClr val="dk1"/>
                </a:solidFill>
              </a:rPr>
              <a:t>We successfully identified the </a:t>
            </a:r>
            <a:r>
              <a:rPr b="1" lang="en" sz="15000">
                <a:solidFill>
                  <a:schemeClr val="dk1"/>
                </a:solidFill>
              </a:rPr>
              <a:t>"Sweet Spot"</a:t>
            </a:r>
            <a:r>
              <a:rPr lang="en" sz="15000">
                <a:solidFill>
                  <a:schemeClr val="dk1"/>
                </a:solidFill>
              </a:rPr>
              <a:t> markets that meet both structural readiness (50% thresholds) and scale requirements.</a:t>
            </a:r>
            <a:endParaRPr sz="15000">
              <a:solidFill>
                <a:schemeClr val="dk1"/>
              </a:solidFill>
            </a:endParaRPr>
          </a:p>
          <a:p>
            <a:pPr indent="-1181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Char char="●"/>
            </a:pPr>
            <a:r>
              <a:rPr lang="en" sz="15000">
                <a:solidFill>
                  <a:schemeClr val="dk1"/>
                </a:solidFill>
              </a:rPr>
              <a:t>The </a:t>
            </a:r>
            <a:r>
              <a:rPr b="1" lang="en" sz="15000">
                <a:solidFill>
                  <a:schemeClr val="dk1"/>
                </a:solidFill>
              </a:rPr>
              <a:t>Strategic Score</a:t>
            </a:r>
            <a:r>
              <a:rPr lang="en" sz="15000">
                <a:solidFill>
                  <a:schemeClr val="dk1"/>
                </a:solidFill>
              </a:rPr>
              <a:t> provides a definitive, data-driven ranking, establishing </a:t>
            </a:r>
            <a:r>
              <a:rPr b="1" lang="en" sz="15000">
                <a:solidFill>
                  <a:schemeClr val="dk1"/>
                </a:solidFill>
              </a:rPr>
              <a:t>China, India, and the U.S.</a:t>
            </a:r>
            <a:r>
              <a:rPr lang="en" sz="15000">
                <a:solidFill>
                  <a:schemeClr val="dk1"/>
                </a:solidFill>
              </a:rPr>
              <a:t> as immediate priorities.</a:t>
            </a:r>
            <a:endParaRPr sz="15000">
              <a:solidFill>
                <a:schemeClr val="dk1"/>
              </a:solidFill>
            </a:endParaRPr>
          </a:p>
          <a:p>
            <a:pPr indent="-1181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Char char="●"/>
            </a:pPr>
            <a:r>
              <a:rPr lang="en" sz="15000">
                <a:solidFill>
                  <a:schemeClr val="dk1"/>
                </a:solidFill>
              </a:rPr>
              <a:t>The Tableau dashboard acts as a dynamic, single-source of truth for efficient, real-time resource allocation decisions.</a:t>
            </a:r>
            <a:endParaRPr sz="15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1475100" y="399300"/>
            <a:ext cx="51123000" cy="45810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/>
              <a:t>Business Recommendations &amp; Next Steps</a:t>
            </a:r>
            <a:endParaRPr b="1" sz="20000"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1870200" y="4980300"/>
            <a:ext cx="51123000" cy="31571400"/>
          </a:xfrm>
          <a:prstGeom prst="rect">
            <a:avLst/>
          </a:prstGeom>
        </p:spPr>
        <p:txBody>
          <a:bodyPr anchorCtr="0" anchor="t" bIns="386925" lIns="386925" spcFirstLastPara="1" rIns="386925" wrap="square" tIns="386925">
            <a:normAutofit/>
          </a:bodyPr>
          <a:lstStyle/>
          <a:p>
            <a:pPr indent="-1181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Char char="●"/>
            </a:pPr>
            <a:r>
              <a:rPr lang="en" sz="15000">
                <a:solidFill>
                  <a:schemeClr val="dk1"/>
                </a:solidFill>
              </a:rPr>
              <a:t>Allocate market entry teams and budget to the </a:t>
            </a:r>
            <a:r>
              <a:rPr b="1" lang="en" sz="15000">
                <a:solidFill>
                  <a:schemeClr val="dk1"/>
                </a:solidFill>
              </a:rPr>
              <a:t>Top 3 Strategic Priority Markets</a:t>
            </a:r>
            <a:r>
              <a:rPr lang="en" sz="15000">
                <a:solidFill>
                  <a:schemeClr val="dk1"/>
                </a:solidFill>
              </a:rPr>
              <a:t> (China, India, U.S.) immediately.</a:t>
            </a:r>
            <a:endParaRPr sz="15000">
              <a:solidFill>
                <a:schemeClr val="dk1"/>
              </a:solidFill>
            </a:endParaRPr>
          </a:p>
          <a:p>
            <a:pPr indent="-1181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Char char="●"/>
            </a:pPr>
            <a:r>
              <a:rPr lang="en" sz="15000">
                <a:solidFill>
                  <a:schemeClr val="dk1"/>
                </a:solidFill>
              </a:rPr>
              <a:t>Prioritize data acquisition for the NULL Market Opportunity fields to refine the model's accuracy and reduce reliance on ZN().</a:t>
            </a:r>
            <a:endParaRPr sz="15000">
              <a:solidFill>
                <a:schemeClr val="dk1"/>
              </a:solidFill>
            </a:endParaRPr>
          </a:p>
          <a:p>
            <a:pPr indent="-1181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Char char="●"/>
            </a:pPr>
            <a:r>
              <a:rPr lang="en" sz="15000">
                <a:solidFill>
                  <a:schemeClr val="dk1"/>
                </a:solidFill>
              </a:rPr>
              <a:t>Implement a quarterly model re-evaluation process to adapt the Strategic Score to rapidly changing global socio-economic factors.</a:t>
            </a:r>
            <a:endParaRPr sz="15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